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cc670f1ce4ac5" /><Relationship Type="http://schemas.openxmlformats.org/officeDocument/2006/relationships/extended-properties" Target="/docProps/app.xml" Id="Rf8e904db55c64b8b" /><Relationship Type="http://schemas.openxmlformats.org/officeDocument/2006/relationships/officeDocument" Target="/ppt/presentation.xml" Id="R8e22a1ab027f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8f7bb2b7e48ef"/>
  </p:sldMasterIdLst>
  <p:notesMasterIdLst>
    <p:notesMasterId xmlns:r="http://schemas.openxmlformats.org/officeDocument/2006/relationships" r:id="R2f47569fb1364ae4"/>
  </p:notesMasterIdLst>
  <p:sldIdLst>
    <p:sldId xmlns:r="http://schemas.openxmlformats.org/officeDocument/2006/relationships" id="256" r:id="R56c121c94e4b47b5"/>
    <p:sldId xmlns:r="http://schemas.openxmlformats.org/officeDocument/2006/relationships" id="257" r:id="R84bc42cae3c442dc"/>
    <p:sldId xmlns:r="http://schemas.openxmlformats.org/officeDocument/2006/relationships" id="258" r:id="R286bdb9ac0744677"/>
    <p:sldId xmlns:r="http://schemas.openxmlformats.org/officeDocument/2006/relationships" id="259" r:id="Rebac878d415b4839"/>
    <p:sldId xmlns:r="http://schemas.openxmlformats.org/officeDocument/2006/relationships" id="260" r:id="Rf522a82db97e4045"/>
    <p:sldId xmlns:r="http://schemas.openxmlformats.org/officeDocument/2006/relationships" id="261" r:id="R6d28e32534b1479f"/>
    <p:sldId xmlns:r="http://schemas.openxmlformats.org/officeDocument/2006/relationships" id="262" r:id="R4ccdf7929def4805"/>
    <p:sldId xmlns:r="http://schemas.openxmlformats.org/officeDocument/2006/relationships" id="263" r:id="R46becce89ad246d8"/>
    <p:sldId xmlns:r="http://schemas.openxmlformats.org/officeDocument/2006/relationships" id="264" r:id="R769a783f575d4bb8"/>
    <p:sldId xmlns:r="http://schemas.openxmlformats.org/officeDocument/2006/relationships" id="265" r:id="R4844f2a12961423f"/>
    <p:sldId xmlns:r="http://schemas.openxmlformats.org/officeDocument/2006/relationships" id="266" r:id="Rd416eebed0df4971"/>
    <p:sldId xmlns:r="http://schemas.openxmlformats.org/officeDocument/2006/relationships" id="267" r:id="R190b8687716b4c1d"/>
    <p:sldId xmlns:r="http://schemas.openxmlformats.org/officeDocument/2006/relationships" id="268" r:id="Rf19cb0d4ad5444ac"/>
    <p:sldId xmlns:r="http://schemas.openxmlformats.org/officeDocument/2006/relationships" id="269" r:id="R5920e47bf95f4c8d"/>
    <p:sldId xmlns:r="http://schemas.openxmlformats.org/officeDocument/2006/relationships" id="270" r:id="R7b2bf67a6ff34a33"/>
    <p:sldId xmlns:r="http://schemas.openxmlformats.org/officeDocument/2006/relationships" id="271" r:id="R44451d5636694a08"/>
    <p:sldId xmlns:r="http://schemas.openxmlformats.org/officeDocument/2006/relationships" id="272" r:id="R0275a2f49e804171"/>
    <p:sldId xmlns:r="http://schemas.openxmlformats.org/officeDocument/2006/relationships" id="273" r:id="Rd445d137889845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1c63de089a45ea" /><Relationship Type="http://schemas.openxmlformats.org/officeDocument/2006/relationships/slideMaster" Target="/ppt/slideMasters/slideMaster1.xml" Id="Rd118f7bb2b7e48ef" /><Relationship Type="http://schemas.openxmlformats.org/officeDocument/2006/relationships/notesMaster" Target="/ppt/notesMasters/notesMaster1.xml" Id="R2f47569fb1364ae4" /><Relationship Type="http://schemas.openxmlformats.org/officeDocument/2006/relationships/presProps" Target="/ppt/presProps.xml" Id="R5a22000032f644c6" /><Relationship Type="http://schemas.openxmlformats.org/officeDocument/2006/relationships/tableStyles" Target="/ppt/tableStyles.xml" Id="R567f53353ea84617" /><Relationship Type="http://schemas.openxmlformats.org/officeDocument/2006/relationships/slide" Target="/ppt/slides/slide1.xml" Id="R56c121c94e4b47b5" /><Relationship Type="http://schemas.openxmlformats.org/officeDocument/2006/relationships/slide" Target="/ppt/slides/slide2.xml" Id="R84bc42cae3c442dc" /><Relationship Type="http://schemas.openxmlformats.org/officeDocument/2006/relationships/slide" Target="/ppt/slides/slide3.xml" Id="R286bdb9ac0744677" /><Relationship Type="http://schemas.openxmlformats.org/officeDocument/2006/relationships/slide" Target="/ppt/slides/slide4.xml" Id="Rebac878d415b4839" /><Relationship Type="http://schemas.openxmlformats.org/officeDocument/2006/relationships/slide" Target="/ppt/slides/slide5.xml" Id="Rf522a82db97e4045" /><Relationship Type="http://schemas.openxmlformats.org/officeDocument/2006/relationships/slide" Target="/ppt/slides/slide6.xml" Id="R6d28e32534b1479f" /><Relationship Type="http://schemas.openxmlformats.org/officeDocument/2006/relationships/slide" Target="/ppt/slides/slide7.xml" Id="R4ccdf7929def4805" /><Relationship Type="http://schemas.openxmlformats.org/officeDocument/2006/relationships/slide" Target="/ppt/slides/slide8.xml" Id="R46becce89ad246d8" /><Relationship Type="http://schemas.openxmlformats.org/officeDocument/2006/relationships/slide" Target="/ppt/slides/slide9.xml" Id="R769a783f575d4bb8" /><Relationship Type="http://schemas.openxmlformats.org/officeDocument/2006/relationships/slide" Target="/ppt/slides/slide10.xml" Id="R4844f2a12961423f" /><Relationship Type="http://schemas.openxmlformats.org/officeDocument/2006/relationships/slide" Target="/ppt/slides/slide11.xml" Id="Rd416eebed0df4971" /><Relationship Type="http://schemas.openxmlformats.org/officeDocument/2006/relationships/slide" Target="/ppt/slides/slide12.xml" Id="R190b8687716b4c1d" /><Relationship Type="http://schemas.openxmlformats.org/officeDocument/2006/relationships/slide" Target="/ppt/slides/slide13.xml" Id="Rf19cb0d4ad5444ac" /><Relationship Type="http://schemas.openxmlformats.org/officeDocument/2006/relationships/slide" Target="/ppt/slides/slide14.xml" Id="R5920e47bf95f4c8d" /><Relationship Type="http://schemas.openxmlformats.org/officeDocument/2006/relationships/slide" Target="/ppt/slides/slide15.xml" Id="R7b2bf67a6ff34a33" /><Relationship Type="http://schemas.openxmlformats.org/officeDocument/2006/relationships/slide" Target="/ppt/slides/slide16.xml" Id="R44451d5636694a08" /><Relationship Type="http://schemas.openxmlformats.org/officeDocument/2006/relationships/slide" Target="/ppt/slides/slide17.xml" Id="R0275a2f49e804171" /><Relationship Type="http://schemas.openxmlformats.org/officeDocument/2006/relationships/slide" Target="/ppt/slides/slide18.xml" Id="Rd445d1378898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fdb148785a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fd9e7a4134479" /><Relationship Type="http://schemas.openxmlformats.org/officeDocument/2006/relationships/notesMaster" Target="/ppt/notesMasters/notesMaster1.xml" Id="R2b78b13eb6ca42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b54b92d504485" /><Relationship Type="http://schemas.openxmlformats.org/officeDocument/2006/relationships/notesMaster" Target="/ppt/notesMasters/notesMaster1.xml" Id="R969f7df92bfb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5c6489a1e47be" /><Relationship Type="http://schemas.openxmlformats.org/officeDocument/2006/relationships/notesMaster" Target="/ppt/notesMasters/notesMaster1.xml" Id="Rdb11bb8db77a46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ccb8e58d74ee3" /><Relationship Type="http://schemas.openxmlformats.org/officeDocument/2006/relationships/notesMaster" Target="/ppt/notesMasters/notesMaster1.xml" Id="R1c2e955f139d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27ae815624320" /><Relationship Type="http://schemas.openxmlformats.org/officeDocument/2006/relationships/notesMaster" Target="/ppt/notesMasters/notesMaster1.xml" Id="Rc640c2c02cfd49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b797acd644b3d" /><Relationship Type="http://schemas.openxmlformats.org/officeDocument/2006/relationships/notesMaster" Target="/ppt/notesMasters/notesMaster1.xml" Id="Rc49a873dcbbf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c7adf623a4643" /><Relationship Type="http://schemas.openxmlformats.org/officeDocument/2006/relationships/notesMaster" Target="/ppt/notesMasters/notesMaster1.xml" Id="R4772623cfb78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62835668db49b2" /><Relationship Type="http://schemas.openxmlformats.org/officeDocument/2006/relationships/notesMaster" Target="/ppt/notesMasters/notesMaster1.xml" Id="R8c08cf782d8e49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1d957de944199" /><Relationship Type="http://schemas.openxmlformats.org/officeDocument/2006/relationships/notesMaster" Target="/ppt/notesMasters/notesMaster1.xml" Id="R9128d90c8c5242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237a86817e4d89" /><Relationship Type="http://schemas.openxmlformats.org/officeDocument/2006/relationships/notesMaster" Target="/ppt/notesMasters/notesMaster1.xml" Id="R2b9d2a7aedf844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adcc7158844efd" /><Relationship Type="http://schemas.openxmlformats.org/officeDocument/2006/relationships/notesMaster" Target="/ppt/notesMasters/notesMaster1.xml" Id="Rc9d422e2169d48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93efc7f4b149f6" /><Relationship Type="http://schemas.openxmlformats.org/officeDocument/2006/relationships/notesMaster" Target="/ppt/notesMasters/notesMaster1.xml" Id="R7f99f84ead2544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7a1f77120485f" /><Relationship Type="http://schemas.openxmlformats.org/officeDocument/2006/relationships/notesMaster" Target="/ppt/notesMasters/notesMaster1.xml" Id="R3e1c71227d054f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4633db5c714e5b" /><Relationship Type="http://schemas.openxmlformats.org/officeDocument/2006/relationships/notesMaster" Target="/ppt/notesMasters/notesMaster1.xml" Id="Ra3236c24a2674c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ff884a39a44720" /><Relationship Type="http://schemas.openxmlformats.org/officeDocument/2006/relationships/notesMaster" Target="/ppt/notesMasters/notesMaster1.xml" Id="R0a8b9d7cbbd14e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3a640f4a694a27" /><Relationship Type="http://schemas.openxmlformats.org/officeDocument/2006/relationships/notesMaster" Target="/ppt/notesMasters/notesMaster1.xml" Id="Ree7e88711bce4b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6287ce2f1142a7" /><Relationship Type="http://schemas.openxmlformats.org/officeDocument/2006/relationships/notesMaster" Target="/ppt/notesMasters/notesMaster1.xml" Id="R44e49c0538484d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d71b8b29f04c5d" /><Relationship Type="http://schemas.openxmlformats.org/officeDocument/2006/relationships/notesMaster" Target="/ppt/notesMasters/notesMaster1.xml" Id="Ra265a5fa296746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distinction: DrapixAI is infrastructure for controlled fashion commerce, not a general image-generation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apps/web/public/hero-female-tryon-v2.png</a:t>
            </a:r>
          </a:p>
          <a:p xmlns:a="http://schemas.openxmlformats.org/drawingml/2006/main">
            <a:r>
              <a:t>- Internal asset: apps/web/public/drapixai_logo.webp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qualitative. The problem is not that every try-on fails; it is that brands cannot treat an uncontrolled plausible image as a product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docs/competitive-strategy-2026.md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innovation is the controlled chain around generation: SKU mapping, reusable garment cache, validation, Standard generation, and publishability.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docs/public-api-v1.md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apps/web/app/page.tsx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0.95 and 10-12 seconds are release targets unless a dated matrix is attached. This prevents an aspiration from being represented as audited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apps/web/public/hero-standard-tryon.png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category comparison, not a claim that competitors lack quality. FASHN positions around a broad API suite and fast developer access. Style.me positions around 3D garment digitization, measurements, styling, and plugins. DrapixAI's wedge is SKU-level garment preparation plus a publishability gate for image-based try-on.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https://fashn.ai/products/api (accessed 2026-08-03)</a:t>
            </a:r>
          </a:p>
          <a:p xmlns:a="http://schemas.openxmlformats.org/drawingml/2006/main">
            <a:r>
              <a:t>- https://style.me/faq/ (accessed 2026-08-03)</a:t>
            </a:r>
          </a:p>
          <a:p xmlns:a="http://schemas.openxmlformats.org/drawingml/2006/main">
            <a:r>
              <a:t>- Internal: docs/competitive-strategy-2026.md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states DrapixAI's intended category shift. Treat it as a product thesis until signed pilots prove improvements in quality acceptance, shopper behavior and brand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docs/competitive-strategy-2026.md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DPIIT asks for innovation and scalability. Emphasize the system-level innovation: reusable product preparation and a policy-aware quality gate around the generation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docs/public-api-v1.md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https://www.startupindia.gov.in/content/sih/en/startupgov/startup_recognition_page.html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bottom-up market model, deliberately avoiding an unsupported top-down market number. Before investor circulation, define the target merchant universe, expected annual contract value and expansion assumptions with cited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docs/competitive-strategy-2026.md</a:t>
            </a:r>
          </a:p>
          <a:p xmlns:a="http://schemas.openxmlformats.org/drawingml/2006/main">
            <a:r>
              <a:t>- Internal: apps/web/app/page.tsx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go-to-market plan is a proposed motion. Replace the design-partner target and metrics with the approved founder plan, then add signed pilots or MoUs as they are obtained.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docs/competitive-strategy-2026.md</a:t>
            </a:r>
          </a:p>
          <a:p xmlns:a="http://schemas.openxmlformats.org/drawingml/2006/main">
            <a:r>
              <a:t>- https://www.startupindia.gov.in/content/dam/invest-india/Form80IAC_Pitchdeck-Guidelines.pdf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the intended production architecture. The privacy commitment must be enforced through encrypted temporary processing, automatic deletion, log redaction, training-data separation, customer deletion procedures and live staging tests. Tenant attack tests, secret management, and an authorized penetration test remain launch gates until 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Internal: docs/public-api-v1.md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plan amounts come from the current DrapixAI website configuration. Confirm that they remain approved before submission. Keep revenue, customer and funding data as verified facts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apps/web/app/page.tsx</a:t>
            </a:r>
          </a:p>
          <a:p xmlns:a="http://schemas.openxmlformats.org/drawingml/2006/main">
            <a:r>
              <a:t>- Internal: docs/public-api-v1.md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is deliberately gated. Lower-body and full-body are future expansion, not current public capability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Internal: docs/competitive-strategy-2026.md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future roadmap, not a claim of current implementation. Industry offerings demonstrate that apparel, shoes, jewelry, watches, eyewear, makeup and hair try-on are technically viable, but each category requires specialized models, tracking and rendering. DrapixAI's proposed unification layer is the shared control plane.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https://www.perfectcorp.com/business/products/virtual-try-on (accessed 2026-08-03)</a:t>
            </a:r>
          </a:p>
          <a:p xmlns:a="http://schemas.openxmlformats.org/drawingml/2006/main">
            <a:r>
              <a:t>- https://www.perfectcorp.com/business/products/3d-vto-format (accessed 2026-08-03)</a:t>
            </a:r>
          </a:p>
          <a:p xmlns:a="http://schemas.openxmlformats.org/drawingml/2006/main">
            <a:r>
              <a:t>- https://fashn.ai/products/api (accessed 2026-08-03)</a:t>
            </a:r>
          </a:p>
          <a:p xmlns:a="http://schemas.openxmlformats.org/drawingml/2006/main">
            <a:r>
              <a:t>- https://style.me/faq/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code completion as commercial traction. Startup India guidance asks for customer/user counts and at least one contract, work order, or MoU where available. Attach real evidence when obtained.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https://www.startupindia.gov.in/content/dam/invest-india/Form80IAC_Pitchdeck-Guidelines.pdf (accessed 2026-08-03)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every point back to potential, not guaranteed outcomes. Current DPIIT criteria include innovation or improvement and a scalable model with employment or wealth-creation potential.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https://www.startupindia.gov.in/content/sih/en/startupgov/startup_recognition_page.html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founder-completion slide. Replace every bracketed field and verify it against statutory records, CVs, the cap table, accounts and signed commercial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https://www.startupindia.gov.in/content/dam/invest-india/frequently-asked-question.pdf (accessed 2026-08-03)</a:t>
            </a:r>
          </a:p>
          <a:p xmlns:a="http://schemas.openxmlformats.org/drawingml/2006/main">
            <a:r>
              <a:t>- https://www.startupindia.gov.in/content/dam/invest-india/Form80IAC_Pitchdeck-Guidelines.pdf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Founders must approve the round amount, runway, use of funds and ARR milestone. The percentages are a proposed allocation and should be reconciled to a detailed operating model before circulation.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Internal: docs/competitive-strategy-2026.md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 and the recognition ask. Replace the contact placeholders before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C:/Users/tanis/OneDrive/Desktop/Results/garment_green_shirt.jpg</a:t>
            </a:r>
          </a:p>
          <a:p xmlns:a="http://schemas.openxmlformats.org/drawingml/2006/main">
            <a:r>
              <a:t>- Internal asset: apps/web/public/drapixai_emblem.webp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dfb948a50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7186574f44202" /><Relationship Type="http://schemas.openxmlformats.org/officeDocument/2006/relationships/slideLayout" Target="/ppt/slideLayouts/slideLayout1.xml" Id="R92048b1ac7a6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48b1ac7a6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2d0b9250049bd" /><Relationship Type="http://schemas.openxmlformats.org/officeDocument/2006/relationships/image" Target="/ppt/media/image.png" Id="R2f67d55c3b7248ae" /><Relationship Type="http://schemas.openxmlformats.org/officeDocument/2006/relationships/image" Target="/ppt/media/image.bin" Id="R6e378ae926224c6d" /><Relationship Type="http://schemas.openxmlformats.org/officeDocument/2006/relationships/notesSlide" Target="/ppt/notesSlides/notesSlide1.xml" Id="Ra71b1837fd2d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e345a24f141aa" /><Relationship Type="http://schemas.openxmlformats.org/officeDocument/2006/relationships/notesSlide" Target="/ppt/notesSlides/notesSlide2.xml" Id="R3ecdd0bfa919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31e916e6e4817" /><Relationship Type="http://schemas.openxmlformats.org/officeDocument/2006/relationships/notesSlide" Target="/ppt/notesSlides/notesSlide3.xml" Id="Rc7c4a6639e8d4d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07b7e490f4746" /><Relationship Type="http://schemas.openxmlformats.org/officeDocument/2006/relationships/image" Target="/ppt/media/image2.png" Id="R9f1b2bce2abe468a" /><Relationship Type="http://schemas.openxmlformats.org/officeDocument/2006/relationships/notesSlide" Target="/ppt/notesSlides/notesSlide4.xml" Id="Re3017247fa0a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9b23bd10c48a5" /><Relationship Type="http://schemas.openxmlformats.org/officeDocument/2006/relationships/notesSlide" Target="/ppt/notesSlides/notesSlide5.xml" Id="R843a6f05d5e8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903b5fcef446d" /><Relationship Type="http://schemas.openxmlformats.org/officeDocument/2006/relationships/notesSlide" Target="/ppt/notesSlides/notesSlide6.xml" Id="R83c3dafcc79f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509b98b1e486b" /><Relationship Type="http://schemas.openxmlformats.org/officeDocument/2006/relationships/notesSlide" Target="/ppt/notesSlides/notesSlide7.xml" Id="Ra5825b7f427741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1018d05174b5b" /><Relationship Type="http://schemas.openxmlformats.org/officeDocument/2006/relationships/notesSlide" Target="/ppt/notesSlides/notesSlide8.xml" Id="Rac283f9474c84a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a12fea6384d70" /><Relationship Type="http://schemas.openxmlformats.org/officeDocument/2006/relationships/notesSlide" Target="/ppt/notesSlides/notesSlide9.xml" Id="R6c66e0f9a9f848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80f654e8f4cd5" /><Relationship Type="http://schemas.openxmlformats.org/officeDocument/2006/relationships/notesSlide" Target="/ppt/notesSlides/notesSlide10.xml" Id="Red270142f8bd45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2116ecb834ea9" /><Relationship Type="http://schemas.openxmlformats.org/officeDocument/2006/relationships/notesSlide" Target="/ppt/notesSlides/notesSlide11.xml" Id="R46211bef3c5e4e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a406da6ec48aa" /><Relationship Type="http://schemas.openxmlformats.org/officeDocument/2006/relationships/notesSlide" Target="/ppt/notesSlides/notesSlide12.xml" Id="Rb02b4138a46743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3672ac0674d02" /><Relationship Type="http://schemas.openxmlformats.org/officeDocument/2006/relationships/notesSlide" Target="/ppt/notesSlides/notesSlide13.xml" Id="R0fded94effb645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5f74cb8724c3b" /><Relationship Type="http://schemas.openxmlformats.org/officeDocument/2006/relationships/notesSlide" Target="/ppt/notesSlides/notesSlide14.xml" Id="R28e2fdbdc63d42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52deeec8d41c0" /><Relationship Type="http://schemas.openxmlformats.org/officeDocument/2006/relationships/notesSlide" Target="/ppt/notesSlides/notesSlide15.xml" Id="Raf86271e687849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61e2fff24778" /><Relationship Type="http://schemas.openxmlformats.org/officeDocument/2006/relationships/notesSlide" Target="/ppt/notesSlides/notesSlide16.xml" Id="Rdae4229b750841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9cf4cda6e40fc" /><Relationship Type="http://schemas.openxmlformats.org/officeDocument/2006/relationships/notesSlide" Target="/ppt/notesSlides/notesSlide17.xml" Id="R71c5079f5b784a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b0d4cfc6c4f42" /><Relationship Type="http://schemas.openxmlformats.org/officeDocument/2006/relationships/image" Target="/ppt/media/image.jpeg" Id="R897d3ac3682b45dc" /><Relationship Type="http://schemas.openxmlformats.org/officeDocument/2006/relationships/image" Target="/ppt/media/image2.bin" Id="R7b1262a6003543c6" /><Relationship Type="http://schemas.openxmlformats.org/officeDocument/2006/relationships/notesSlide" Target="/ppt/notesSlides/notesSlide18.xml" Id="Ra9339f3e74bb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A580E-F000-4E4C-877A-26F6B18A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1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7d55c3b7248ae"/>
          <a:srcRect xmlns:a="http://schemas.openxmlformats.org/drawingml/2006/main" l="0" t="3023" r="0" b="30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037C-8775-421F-A993-FF8FE862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547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78ae926224c6d"/>
          <a:stretch xmlns:a="http://schemas.openxmlformats.org/drawingml/2006/main"/>
        </p:blipFill>
        <p:spPr>
          <a:xfrm xmlns:a="http://schemas.openxmlformats.org/drawingml/2006/main">
            <a:off x="1255899" y="514350"/>
            <a:ext cx="812426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A177-2C3F-4509-BF3F-453014D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GARMENT-FAITHFUL VIRTUAL TRY-ON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4313-9CC7-42FC-9F5B-BC2EBF2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0" i="0">
                <a:solidFill>
                  <a:srgbClr val="172019"/>
                </a:solidFill>
              </a:defRPr>
            </a:pPr>
            <a:r>
              <a:rPr sz="4350" b="0" i="0">
                <a:solidFill>
                  <a:srgbClr val="172019"/>
                </a:solidFill>
              </a:rPr>
              <a:t>DrapixAI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642AA-2D0A-4EE3-B2BF-CE06CCB5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95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0" i="0">
                <a:solidFill>
                  <a:srgbClr val="172019"/>
                </a:solidFill>
              </a:defRPr>
            </a:pPr>
            <a:r>
              <a:rPr sz="2475" b="0" i="0">
                <a:solidFill>
                  <a:srgbClr val="172019"/>
                </a:solidFill>
              </a:rPr>
              <a:t>Fashion commerce should show the real product, not a look-alike.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F6EC2-B3D7-475A-B5C3-62B6DA71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A controlled virtual try-on platform for fashion brands: product mapping, approved garment assets, Standard generation, quality gating, and brand-native delivery.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1EC35-4065-4E8B-AF24-AB61CFC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2DA53-F557-4441-9E9D-CCCA68C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STARTUP INDIA + FUNDRAISING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13891-ED0C-47E7-B8E0-78119CF5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388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70986-16C5-418E-AF9C-4788A51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83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VALIDATION 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1447B-75C8-4FA4-BFC5-57796391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6B"/>
                </a:solidFill>
              </a:defRPr>
            </a:pPr>
            <a:r>
              <a:rPr sz="750" b="1" i="0">
                <a:solidFill>
                  <a:srgbClr val="66736B"/>
                </a:solidFill>
              </a:rPr>
              <a:t>2026 APPLICATION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FA82D-BAC8-4A94-AFB2-613DCFA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95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SH-2071  |  STANDARD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F89FD-5944-4712-B1FE-33A4B5A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210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Product fidelity first.</a:t>
            </a:r>
          </a:p>
        </p:txBody>
      </p:sp>
    </p:spTree>
    <p:extLst>
      <p:ext uri="{BB962C8B-B14F-4D97-AF65-F5344CB8AC3E}">
        <p14:creationId xmlns:p14="http://schemas.microsoft.com/office/powerpoint/2010/main" val="1787214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F80E1-E418-414B-8FCA-1C4C43C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7EBFC-CA9D-4216-95B1-A7D219E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43D18-EE61-4A6B-937D-8F30BE4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The product page still asks shoppers to imagine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4046D-2497-46A7-A965-A969686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A product photograph shows the garment. It does not show whether that exact product remains recognizable on the shopper.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F428F-1CE4-4D43-AB57-B3FC9A84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BD7D5-5F51-43AC-8435-3AC4C9D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8715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FFFFFF"/>
                </a:solidFill>
              </a:defRPr>
            </a:pPr>
            <a:r>
              <a:rPr sz="2550" b="0" i="0">
                <a:solidFill>
                  <a:srgbClr val="FFFFFF"/>
                </a:solidFill>
              </a:rPr>
              <a:t>Will this exact garment still look like this on me?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4F239-CE3F-4E11-913B-2856759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127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The unanswered purchase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DA1DE-FF76-4190-A094-44ADB28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CE867-01F6-4A29-8948-0B7C79F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2F745B"/>
                </a:solidFill>
              </a:defRPr>
            </a:pPr>
            <a:r>
              <a:rPr sz="1950" b="0" i="0">
                <a:solidFill>
                  <a:srgbClr val="2F745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928B-C281-42DC-94BB-146143E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Garment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6E376-ACBA-4D84-9A49-FB1E71B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4753C-8178-4F89-ACF8-2B88A483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Color, print, collar, sleeve or hem can change during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20991-1F82-44F7-AF51-4EB306DD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127C7-D0EA-4695-AB23-E624628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2F745B"/>
                </a:solidFill>
              </a:defRPr>
            </a:pPr>
            <a:r>
              <a:rPr sz="1950" b="0" i="0">
                <a:solidFill>
                  <a:srgbClr val="2F745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30017-01FE-4D0E-8A66-4D5842F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Identity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6DCFB-9F49-49D4-8906-18181884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EB6A0-D6DC-4C06-9EC4-37AD0F4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A plausible image is still wrong if face, pose or body silhouette moves.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B7DE-34DE-4154-AC34-EFFD52F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04209-F5F8-4409-BF17-0C2399D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F6770"/>
                </a:solidFill>
              </a:defRPr>
            </a:pPr>
            <a:r>
              <a:rPr sz="1950" b="0" i="0">
                <a:solidFill>
                  <a:srgbClr val="1F6770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72C11-C5CD-4E3F-AF28-8B14DF7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No publishability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87FF2-1AD9-4ECB-A32C-96EA0B2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CF1E1-E39C-4D0A-A135-A0B5608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Brands need a system that rejects doubtful results before shoppers see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20F5E-54AB-47F8-9D75-9FD66F8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8A7DD-3239-49E2-AEA7-9E5A190A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PROBLEM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2DF3F-155C-4DCF-857A-E8FD4CD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02 / 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7643C-686E-412F-B560-D0409DD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D476D-D9BA-4BEA-A81A-1B7BC4D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69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7679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F0B50-15AF-4392-BA50-77AC8D3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A1DA7-A8C7-4F53-8622-19CC1CC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78966-0D04-4808-9976-014AEC3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One controlled workflow from SKU to shopper.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15958-1F50-4536-856F-E2AEBA7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garment is prepared once, mapped to a product, and then reused through the same quality pipeline across storefront SDK and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E1FD8-7A0A-4571-B2EF-43118F90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3DC8B-BE21-4A6F-838E-13CD244E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771A9-FDB9-4B2A-8FBF-B9068F0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087F-3731-4031-9A5B-82FBFE0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Product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450E4-A69D-4BB4-9E55-DE2F633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SKU and product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D5FFA-5606-47E6-95EF-F03210A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12F4F-4095-4C8B-A518-1B93B00C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4CA08-D9D2-49F5-A1B2-CCB1F4F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6702E-EF1D-4944-AFE4-BAF5A0F8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Garment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CB532-24B7-4D89-8DD0-FA0D495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Clean 1024 x 1365 asset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AF217-2964-459A-8245-0241F02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AAEB9-BDC4-462F-BA84-C545185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BB87B-ECFB-4E73-8C87-17B4207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51410-A7EA-451E-AEE0-604DA9B4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Shopper consent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54C02-C766-4AD7-B369-0701365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Validated person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6B57D-EFE5-49BE-A272-16F2035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6C7D3-74F5-438D-9B5E-06D1C9C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38EEC-925D-4537-8A2B-FDFFF5D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F1187-ACB4-42AA-BE64-309AF221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Standard try-on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32ABE-85C8-4A4D-ADCF-41B2251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One quality-first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2EB28-2498-4DB8-AA1B-57FF6E5B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2F6BE-50E2-41BE-BE12-B9764D9D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49861-33D2-4BC9-9184-27F6AD1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882B1-798B-4457-8BC2-212CA368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Publishability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04230-EE6E-41A8-B7BE-CD63622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Score, reject or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60163-27C0-4F77-A442-C91DEC8D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C7A03D-523F-46B3-AF07-038330EC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6B54F-64B5-4203-A08E-AD1CB5BA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4EEA5-DFA2-4EBC-8031-E9C41E7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0884A-A4BC-406E-A567-C931489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5811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0E946-E07F-4786-9939-3143615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THE CONTROL 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7BD725-E9B8-449B-854B-4B880442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No output bypasses the gate.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7F739A-EBE8-4EB7-B416-AC73F11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Bad face, pose, body, color or background changes are rejected. Borderline cases stay in the admin review queue. Approved products become DrapixAI-ready before launch.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13ED3-CFD8-420D-8C74-B509E0E8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6C7651-8171-4A0A-9A47-B70BAC5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672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SDK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D42A5B-075B-467D-A28C-09ED4F4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126574-D6E7-48ED-8460-E5E7D5B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672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REST 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C57BBA-E7DF-4F11-9B0F-17DD980B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4F0"/>
          </a:solidFill>
          <a:ln xmlns:a="http://schemas.openxmlformats.org/drawingml/2006/main" w="0">
            <a:solidFill>
              <a:srgbClr val="E8E4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82DC71-E29D-45DC-B1ED-767F3E8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672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3F627E"/>
                </a:solidFill>
              </a:defRPr>
            </a:pPr>
            <a:r>
              <a:rPr sz="900" b="1" i="0">
                <a:solidFill>
                  <a:srgbClr val="3F627E"/>
                </a:solidFill>
              </a:rPr>
              <a:t>SHOPIFY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14A03-54BF-4654-8C59-083F70B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019"/>
                </a:solidFill>
              </a:defRPr>
            </a:pPr>
            <a:r>
              <a:rPr sz="1350" b="1" i="0">
                <a:solidFill>
                  <a:srgbClr val="172019"/>
                </a:solidFill>
              </a:rPr>
              <a:t>Same Standard pipeline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DF9955-8116-414F-9F38-E794D8CD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05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Identical product mapping and quality rules across channels.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EA9DC8-1B3A-4387-B33F-8B1CFC5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525DFA-8464-487B-8A46-5C3652E3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SOLUTION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7CFCED-EB1B-4FEE-94AE-BA4090B9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03 / 18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01AEDE-5E1A-4580-A5FB-5487407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4017D2-0A9D-4972-8F5F-6F3DF826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25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1913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A2790-A12A-4032-AA70-F806EC1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03 / PRODUCT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8D65B-D809-4774-A598-ED5C9E74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649E2-2F98-42C2-B70F-FF9F1EBC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A try-on result is inspected like product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0A9F6-1D2F-43F4-A0F4-3D2CF54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evaluates the garment and the person separately, then returns only the result that meets the release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34C63-4C29-46A8-8755-7AF0D87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6863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b2bce2abe468a"/>
          <a:srcRect xmlns:a="http://schemas.openxmlformats.org/drawingml/2006/main" l="0" t="17377" r="0" b="17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47900"/>
            <a:ext cx="43815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58023-B78D-4FBB-86FB-954E5445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DF208-4C36-4D76-B883-46510AD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SKU SH-1042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41FBC-0372-4535-A08F-304F3D04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76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7966C-F15A-4224-80F0-67D242B2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BEF4E-B984-4961-8FAD-E982EF75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Face + 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0DCA0-A8E6-4B4F-B76D-373ABFED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A384C-E9A2-484B-9796-25EA609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29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DC3F3-61E1-4522-A393-AF167A91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57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Collar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9E0D7-F835-416C-8CFC-C543D63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EE806-3BC8-4539-B027-5DF9E9C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5F5B3-2EDA-401E-ABFE-7649AEFF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Color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E40B0-1CE8-453E-8DB8-E5FB251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449F9-2595-4376-9C51-2BB270B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00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08B63-4B11-4665-9FFC-D67F9BD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29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Cuff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982B8-B9F4-4CA2-9420-9D0A10E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05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FC5DD-5D6B-4244-A8B7-45C9808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149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7CD21-FCA2-4122-AF06-9D829681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34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Texture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7742F-45CC-4D86-860C-D7C3A10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C5AFA-6049-409B-A887-506146D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292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CF974-E2EC-41FE-AB12-51FA5B5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57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Hem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3BEB4-82B3-4FB5-B513-7164C2D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PRODUCT ACCURACY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44D5D-97F3-423B-A9A5-DDF5214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Structured green shirt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61834-C330-44B8-9B30-F93C187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Release targets shown below. Final application claims should be supported by a dated validation report.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D9AB3-E087-4B6F-BD31-00DC3C6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A54EE-7D15-400C-8127-5F06B806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9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Color match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4DB9F6-BE45-4030-84BC-6A01EF6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61BBF-6EB9-4DB8-BFF8-ADFADCE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7674C-259A-497E-8694-D6D5DA3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Print / logo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13AD58-5474-404C-AA59-7795D2C2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99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4034C2-0110-4914-9EC4-39BFB54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F951D-CC05-4BF0-83F2-4B8E004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005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Sleeve match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7C101-7155-4E7E-B01D-92BFF31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005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7FD032-C18C-43EF-AD33-32590AC5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F88CA7-E426-4CCA-A757-0025C58E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Hem 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36B7B-A4FE-44A8-984E-7FF1B6EB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7671F-E4B0-4588-BF3A-C5141FB9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35FD4B-3B32-498C-AD72-26FA2450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91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Collar structure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C800C5-20FC-40B9-9B4A-D528EB20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910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F020E9-01C5-426A-A5C0-CFF1F90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B2CC78-54C6-421D-A9FA-11AD178F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Pose retention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47EE1A-FDF1-49D9-BDD6-7772FBA0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910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B2303F-1EA3-4606-8609-C24E525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16002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EFFE9C-FB3E-4C55-A128-FAA7F097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2D0D76-0540-4D75-BA9A-15ABF41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97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0.95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400000-E695-4B95-A53A-4B725EC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9912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QUALITY RELEASE TARGET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3816B9-A305-4EF5-A5D7-54D04927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169545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CE5342-5468-4678-BF0E-0C7FF607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A263D6-86FD-419D-9378-2849703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197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10-12s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2EB8B0-F611-4259-A9C8-CEEEC3F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991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WARM LATENCY TARGET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B32034-8284-4519-B1FC-0B66E8A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86400"/>
            <a:ext cx="1295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CE4E90-C30B-4AEF-8DF4-66851897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2AD4F6-7FEE-421D-96B3-E8E41644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197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18403A-3B78-4CC1-8E49-E9F8F22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912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WARNINGS TARGET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B133CC-0FDC-4336-A755-77DD7F49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E50A8A-9211-42F5-8143-AF9255F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EVIDENCE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C971E2-9B14-4F71-88A5-951C4A7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04 / 18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E2C97-9F3D-4297-B475-11D4C6CA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AE082C-4692-4545-84DB-CEE5EC15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3386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7361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846C0-9BA1-4565-B07C-DEE03401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04 / MARKET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EC258-B004-4E48-A6F8-D7C9CD8F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AFC2B-9EDD-47E8-9577-18EC0EE1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Different by design: not another generic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69191-4A6E-4208-800C-3AD30C8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market contains broad generation APIs and measurement-led 3D fitting rooms. DrapixAI occupies a focused middle: product-faithful, image-based try-on with brand-controlled publishing.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7EBB-B9E2-47D1-AA63-AF26E89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667E5-43EE-4C45-BC15-F34A20E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989DA-DBAD-4D1C-AE23-771C70EE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4ED06-DD04-4861-BB59-34F8E6C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Generation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771C9-162E-4062-AEB0-F5B2279B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98142-429A-48F0-AFBD-79EEA44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3D fitting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8405F-52D2-4C40-9841-D1C7D07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9525">
            <a:solidFill>
              <a:srgbClr val="0D28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177D0-EF84-4EE0-93F1-8B6C828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DrapixAI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EF3B6-0682-4B57-8E8D-ACCD3A8D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8FFC4-F289-4F82-8B22-D2A179E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Primary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FAB2E-58EF-4DBC-B6A0-B5540400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00327-FB36-4765-A456-4E00BD0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Create fashion imagery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95FE0-F882-4253-BBAB-E4387665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B1EF9-34FA-4554-ABE1-19E738A0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Visualize fit and 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5130B-A5BA-4715-A686-0BB6D3E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F84E9-746D-4AF2-AA18-8EE49FF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Protect product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3E34D-A3C8-4359-8852-082E4CE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3E2F0-844B-4372-8B26-1FD33F2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Garment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A385A-FC83-49EF-B445-A5E099E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3E3E7-39CE-4066-B786-CCDDC134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Request-time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CB1CF-B323-4C59-BD70-0F1D8C46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403E1-7054-4F97-AAEB-3510577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Digitized 3D garment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8979C-6AFB-47AD-8557-80E2DCF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15525-02D0-4F92-BAA9-74ED276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Approved SKU cache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594637-CB99-46F2-A969-3EC87E8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2BB27-0951-4AED-B66E-D75C5C3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Output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3BE9ED-731C-490A-8200-A9DC0BD2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A9D75-64B3-422D-8E14-2B0DDFC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User inspects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F72147-5976-46DD-851F-88F2D56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D84DC-7058-41E8-B1D5-875BD6B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3D fit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6BC4B-E56D-45C0-9B0F-C44ABF7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AC2D3-18C7-4EC5-803B-5143D4C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Score, reject,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601A85-320E-44A0-BCF7-13DA963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CEF93-3609-4D61-A869-8BD7CDD5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Storefront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3698C-1410-4B2E-903E-0F56051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7D1860-D1DE-4470-A962-2B2B124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API or app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C7C385-1782-4DEA-90F9-1DB56C3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9B1B62-538E-4AD4-9105-0783F96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Plugin / managed setup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79189-DA8D-479E-B5FE-B457FED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3A9509-8662-43A4-A4AD-76E08BB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672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SDK + API quality parity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182E7C-D474-490C-82C5-2997EEE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2B240-77CC-4968-99B3-117A3BFB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Brand readiness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0CFF6C-59B8-4459-98FD-D1EE7D1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94236-A825-4247-B4BD-7251BE9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Endpoint available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032E39-5D0A-482B-96E5-6250E9D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6F5E70-CB29-4BA6-A06B-6F701B5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Garment digitized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B357DD-56B7-43A4-95F1-029A857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46A10B-4820-481E-B04B-A71B75D8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578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SKU certified before launch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AC5A1E-B505-4E5E-9432-28B3F1D7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962650"/>
            <a:ext cx="1638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44BAC6-5D00-4649-B7F5-66C7F75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721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EXAMPLE: FASHN API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A4CD15-9B0F-4A40-8600-6C7AABB3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62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CDD"/>
          </a:solidFill>
          <a:ln xmlns:a="http://schemas.openxmlformats.org/drawingml/2006/main" w="0">
            <a:solidFill>
              <a:srgbClr val="F3EC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C2EE77-F840-427A-8CA3-1CD64A0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721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765720"/>
                </a:solidFill>
              </a:defRPr>
            </a:pPr>
            <a:r>
              <a:rPr sz="750" b="1" i="0">
                <a:solidFill>
                  <a:srgbClr val="765720"/>
                </a:solidFill>
              </a:rPr>
              <a:t>EXAMPLE: STYLE.ME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F51538-5F16-460C-A5A3-5C028C6D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9626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ED94C3-273D-4CB6-AF0B-538D6CC2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72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GARMENT-FIRST CONTROL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82C691-BA21-4ED0-AE12-61369D5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0A6824-5DE6-4443-A979-C033E8C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DIFFERENTIATION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CED0E6-67A6-4E66-B9BA-3381B17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05 / 18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B3BB6F-6CED-430F-9A16-5C6ADFB1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9CFD3C-E7AD-4067-BC6A-97FF539F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423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9794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2E8AE-5B05-4E09-B287-F8EEBC9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05 / CATEGORY REVOLUTION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2A32F-63ED-42FB-909D-094163AF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61FCB-3443-41D5-8499-C0711114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Move virtual try-on from novelty to commerce assurance.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D0821-3E8E-42F3-9FE4-8B720D9D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next category leader will not simply return an attractive image. It will give brands a controlled, measurable decision about whether that image is safe to show.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CBB04-E517-4545-9B50-BFE14871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23622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6A67E-EC6C-4B7A-BC2D-D1997FA3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A7544F"/>
                </a:solidFill>
              </a:defRPr>
            </a:pPr>
            <a:r>
              <a:rPr sz="750" b="1" i="0">
                <a:solidFill>
                  <a:srgbClr val="A7544F"/>
                </a:solidFill>
              </a:rPr>
              <a:t>COMMON GENERATION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767C-944E-42DB-8A4B-E5BA1C93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 i="0">
                <a:solidFill>
                  <a:srgbClr val="172019"/>
                </a:solidFill>
              </a:defRPr>
            </a:pPr>
            <a:r>
              <a:rPr sz="2175" b="0" i="0">
                <a:solidFill>
                  <a:srgbClr val="172019"/>
                </a:solidFill>
              </a:rPr>
              <a:t>Generate  &gt;  hope  &gt;  display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E329-E5D6-452D-8B69-3D9475E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The shopper judges whether the garment, face and pose are still trustworthy. The brand carries the reputational risk after delivery.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FB372-681C-4D6A-A21F-0A8CFD21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5829300" cy="23622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05E4D-9AFE-4A44-A383-DC2C01A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DRAPIXAI CONTROL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90B69-3F1D-4179-8707-A87E168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Certify  &gt;  preserve  &gt;  score  &gt;  publish  &gt;  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88725-185D-462E-9551-BCFB190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521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CFE3D8"/>
                </a:solidFill>
              </a:defRPr>
            </a:pPr>
            <a:r>
              <a:rPr sz="1050" b="0" i="0">
                <a:solidFill>
                  <a:srgbClr val="CFE3D8"/>
                </a:solidFill>
              </a:rPr>
              <a:t>Every product begins with an approved SKU asset. Every result is checked against product and identity rules. Every approved output becomes measurable brand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3ED28-8748-419A-87C5-CE44658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5146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76FF5-1F5A-4FC2-AC40-EFDD94A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SKU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7C11B-BF46-4DD6-B441-799D59A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Product-level readiness before 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34B15-EB5A-4838-A0DC-C3898A2D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91100"/>
            <a:ext cx="25146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BF7C4-1D02-4A11-875E-C4EC2EE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625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Shopper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8D450-207E-465E-8499-CBCA54B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86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Reject identity drift; never train on shopper photos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44829-002A-4CDC-B88A-31E17F0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5146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71B0F-E27D-4F6C-BDFA-F73F9AC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625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Brand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64DA1-5963-4FDF-910E-079925E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86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Native UI, policy and review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7F755-C9AB-404C-AB7B-2051C567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91100"/>
            <a:ext cx="25146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CFFA5-4C93-4184-845A-33539F1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625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F6770"/>
                </a:solidFill>
              </a:defRPr>
            </a:pPr>
            <a:r>
              <a:rPr sz="1125" b="1" i="0">
                <a:solidFill>
                  <a:srgbClr val="1F6770"/>
                </a:solidFill>
              </a:rPr>
              <a:t>Learning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4440F-DC28-44C9-B0DA-106F6C79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86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Feedback tied to product and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D0205-829C-4D80-8D34-3221EE0B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2914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AE2CE-220A-4A2A-944C-35AFE2F2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174B3C"/>
                </a:solidFill>
              </a:defRPr>
            </a:pPr>
            <a:r>
              <a:rPr sz="675" b="1" i="0">
                <a:solidFill>
                  <a:srgbClr val="174B3C"/>
                </a:solidFill>
              </a:rPr>
              <a:t>DESIGNED ADVANTAGE: VALIDATE IN PILOTS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BA224-FFD9-4F56-9D24-52369EA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4170F-2725-445E-ABB1-39C2D4B4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CATEGORY REVOLUTION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03AB8-3616-45F5-8DBC-D385F5C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06 / 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F4D9A-659B-41FB-B7B3-D7E8A84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2D696-1356-4EA4-B7D1-64FB955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50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4708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66950-E585-4A73-B392-EAD32237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06 /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5BE61-E14D-46D9-8B8F-79FF1BDF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8A75-A07E-4293-87AE-B54C5B1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The model is one layer. The control system is the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6AA3C-3803-4EE8-B60F-A60AE550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combines AI generation with catalog preparation, quality intelligence, brand delivery, and an auditable feedback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BDBAE-088B-4D1F-A546-A6C96520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54ED9-97F8-4687-AD8D-82C9F04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7A3D-FD7E-4074-86B1-CEAA31A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173AB-9D56-42EF-B04E-BD4F0C3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C6718-6C0B-4EC3-87A4-7D800048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Garment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D73BF-1A04-459E-8380-FFC114B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Background cleanup, normalization, sleeve and garment analysis, reusable product cache.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81775-3AB1-4E21-B7C8-FFFC3F2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6E6B9-B073-4C94-AC9E-B53F3F6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05BB0-A21E-4772-95F0-B5618763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89B3A-98D7-4088-98C4-256E931A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955C1-47AA-41F2-B307-98E95AF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Standard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EA4C4-91BB-4B4F-958E-522868E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One production mode, one candidate, CatVTON pipeline, SDK/API parity.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AAB8A-E757-465A-BCF6-D1EB92DC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31175-B9B2-4C26-A023-E2BD2327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60855-58DB-4EE2-8AAB-FDA18BA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87F12-DE87-4F34-AF0B-8B113098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373D9-0DF4-4A4B-9872-02BCCF0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Quality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B7732-AE51-4109-BEF9-45F648A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Face, pose, body, color, texture and artifact scoring with automatic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30F82-1B7E-4DE2-BC11-7A61E9C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274A2-208D-4F1D-B105-4FC8B4C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9A3FC-40B2-499F-892B-AC8FFFE0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33540-E5E8-456D-BAAC-96B9B65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30774-2EA5-4511-B17A-7EE89EAA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Commerce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7DDFE-03F9-4B99-AB31-C35A87A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Product mapping, DrapixAI-ready certification, review states, consent and retention.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8AF6D-486B-45B9-B450-F90E5EF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108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1D7A2F-18B2-4039-AB48-70D3724B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INPUT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AF3A7-5E52-402F-BCF5-50E44AF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91200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SKU PREP  &gt;  STANDARD TRY-ON  &gt;  QUALITY GATE  &gt;  APPROVE / REJECT  &gt;  SHOPPER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3A17F-0DDA-47CC-9CB7-4084F6C9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1BCCF-9B7E-450E-932E-F7317CA3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INNOVATION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DA997-6EF9-41D3-A626-5DDD040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07 / 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3E5CBA-D7C9-452B-A771-7A12072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E35C8-82CE-4DD4-A317-12D131F9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5926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362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EEC5F-488B-441C-9BAC-B5BCAB4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07 / MARKET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6DC75-F6C6-4B8D-B053-D743119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D695D-0FA3-4952-A605-0E0B9AA2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A focused entry into fashion-commerce infrastructure.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92BB-80C3-4583-975E-FA6CB49C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starts where product fidelity matters most: mid-market fashion brands that need a native try-on experience without an enterprise implementation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0BD55-E198-4876-B479-AD77337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3375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BAC7F-217C-4AFB-BA5E-C1BF3346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FE61-B5D8-41D5-B8B1-78B4F44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79575-3F31-4A5D-97F1-F3939CC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Mid-market DTC fashion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C10BF-843F-46B1-8D56-98453AD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Upper-body catalogs, Shopify-led storefronts, lean technical teams and a need to prove conversion before broad rollout.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3D525-F01F-4840-B081-17EC554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33375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CCA6B-B818-4AE1-B4CA-3CF76C24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CE339-8F95-4E9A-ACDE-9176C5E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C9D52-00CE-4BF8-A7F8-98F1D55F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API and mobile commerce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ACCFD-9CF5-433E-9989-BB347B5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The same mapped products and Standard quality pipeline delivered through public API and native mobile applications.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3AA00-FE71-4661-B8CA-8B1DE6F9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33375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E7374-1ED1-450D-AC50-142F3A1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AB7E8-CD7C-4DA3-B5A0-067D52E3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ENTERPRISE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972A9-3784-4106-9A01-F05D12C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Dedicated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99682-A93A-4EB9-BBDC-35377F8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Private deployment, SLA, tenant controls, catalog operations and brand-specific quality governance.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F5EE-7F74-4428-B93E-045BB49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1085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D57D9-A391-451A-9FE0-F8B0937E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BOTTOM-UP MARKET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AA4F3-9BB4-420D-BD26-07054058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[TARGET BRANDS]  x  [EXPECTED ANNUAL CONTRACT VALUE]  =  [BEACHHEAD SAM]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40276-D6F4-4477-9D5B-5056EB1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 i="0">
                <a:solidFill>
                  <a:srgbClr val="CFE3D8"/>
                </a:solidFill>
              </a:defRPr>
            </a:pPr>
            <a:r>
              <a:rPr sz="750" b="0" i="0">
                <a:solidFill>
                  <a:srgbClr val="CFE3D8"/>
                </a:solidFill>
              </a:rPr>
              <a:t>Replace bracketed assumptions with sourced targets and signed-pilot pricing before investor circulation.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1CB8F-B43C-41CB-A0A4-D8A1D3B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F9396-9107-437F-862A-266E4F3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MARKET WEDGE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551DA-6AC2-43F4-AC40-828E2C1B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08 / 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28EA4-B97E-4F0D-A182-7E6CE21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12310-7851-4868-9143-1AFD5AD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677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9397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44DC9-128A-4D93-AB39-B7A7004E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08 / 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A3F7F-F470-4E90-9ADA-3DC7571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F8727-0635-48A5-9379-35498D67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Land with one product. Expand with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ADB2C-4E0D-4157-BAC4-E24DF84E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commercial motion reduces risk for the brand: certify a small product set, measure live shopper behavior, then grow into catalog and enterprise usage.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9F13B-43D6-4368-A2BB-70C6908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3337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9D4E7-C7CD-4CF7-93D2-BA0050C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06101-A135-41D9-A6C4-534F600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E50DB-65CD-4F5D-88B1-AE58EA4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72019"/>
                </a:solidFill>
              </a:defRPr>
            </a:pPr>
            <a:r>
              <a:rPr sz="1950" b="0" i="0">
                <a:solidFill>
                  <a:srgbClr val="172019"/>
                </a:solidFill>
              </a:rPr>
              <a:t>Design partner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0283B-9538-446C-881F-45D935A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SELECT 3-5 TARGET BRANDS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686D-26C2-4E26-8EC1-57A9B790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One-product pilot, signed success criteria and direct founder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1FEC-2275-4BA0-98B8-011B3FD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52800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BF062-9CBD-4A4F-894D-4692C2A8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3337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1DCD9-ECA3-4DB9-B24A-09B7CCC6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49E34-6DA7-42BE-91EF-5D2990D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431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B5D05-A76E-4BC3-B32F-BF7000EA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72019"/>
                </a:solidFill>
              </a:defRPr>
            </a:pPr>
            <a:r>
              <a:rPr sz="1950" b="0" i="0">
                <a:solidFill>
                  <a:srgbClr val="172019"/>
                </a:solidFill>
              </a:rPr>
              <a:t>Prove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22274-D1FD-400E-BD9F-AA817DD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LAUNCH CONTROLLED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8C43C-370F-4214-BA08-365D2FE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Track activation, publishable-result rate, latency, add-to-cart and support burden.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AE7E2-6923-47B8-AA41-7A639F7C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DCD5C-DD25-4AE2-A371-1E596AC3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3333750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1303D-FE3A-4E37-884B-4C2D2CF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29272-2365-4940-BABE-D3EE0BA8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70D49-09D0-47A1-B430-B7503107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72019"/>
                </a:solidFill>
              </a:defRPr>
            </a:pPr>
            <a:r>
              <a:rPr sz="1950" b="0" i="0">
                <a:solidFill>
                  <a:srgbClr val="172019"/>
                </a:solidFill>
              </a:rPr>
              <a:t>Expand account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B37C5-8B8D-4AF7-AFDB-EA639A7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CATALOG + CHANNELS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91CF3-86CC-46E6-AA85-61293760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More approved SKUs, Shopify rollout, API/mobile usage and dedicated capacity.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23BB0-D4A2-4F1F-8218-1398E28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5146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39F4A-57A7-479A-B45A-6A0CE7B4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Activation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F8090-82D1-4343-8C0C-DD3B7B1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Shopper starts / eligible PDP 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7939C-29E8-49F2-9B5F-D25C0B7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25146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5B395-1E41-4324-ADCF-4955F1C8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E9AB1-F4CA-4E46-B93F-F2640C0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292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Publishable results / completed jobs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8B9C4-3035-4698-934B-39977DA0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25146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6B9D4-476A-4848-A97B-80960277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530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Commercial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69B763-BA2D-4929-89A2-CBF5A112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292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Add-to-cart and account expansion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19368C-BFCB-423B-8EE0-206A20E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19700"/>
            <a:ext cx="25146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14BC51-B905-4DF4-B4C1-30476F62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530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Operational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3BC5F2-19EE-4D61-8758-AC7C0D5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292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Latency, retries and support tickets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8076B3-4411-43B1-9FF9-6AC4F558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E6533-0192-4504-BC27-3C68329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GO-TO-MARKET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6F97E-2E44-49B6-9072-DB559821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09 / 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AD05D-0B21-4933-AECA-C6E0BF0B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2B082-BAA8-4E68-8055-56B3D425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47719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A7295-93A5-4CF7-9224-2685AAD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09 /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2AD93-D665-45B5-87C1-4459FE05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72BA2-113B-486E-9E4A-987E8CB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A secure, queue-based architecture that scales by tenant.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7463-4AFB-438C-A3E8-9B63480C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Public traffic stops at the API edge. Data services and GPU workers remain private, while per-tenant controls protect shared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C201-B711-422C-B5E0-EC4FFB1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097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C1525-7805-4D4A-9126-5048A330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SHOPPER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1ADB3-B4B3-4507-9E0E-C3ECC3E0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Brand storefront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Mobile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6E6F2-5C4D-4525-ABA3-84CDAD0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20002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D2222-C65A-4652-92AE-38C6F66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PUBLIC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23BF0-2644-4FCF-9ECE-CAAB146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WAF + 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SDK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A4A60-FA85-477E-A793-06EAD461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76550"/>
            <a:ext cx="18097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DE851-5FB2-44A7-BE24-844412C8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480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6389E-8C69-43D7-A6BF-FE9D946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528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Redis / RQ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Tenant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45A14-D1D5-4392-9A7C-5053A015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20002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9525">
            <a:solidFill>
              <a:srgbClr val="0D2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71EB5-FC76-4CC1-BFB9-8E73003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E1FEA-FF12-4D4C-9715-881D304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CatVTON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Standard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4A35E-1485-4711-BD16-713E2C38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19200" cy="12763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F53AD-6314-49AD-B719-4414F279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09F5E-48F8-4DC8-97BB-9A115B5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52800"/>
            <a:ext cx="91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Score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Store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4D826-EF96-413F-9A72-DA0729FD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147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C9DE7-C5D3-4977-8441-7B0EFB0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4CC01-ADAE-441A-931A-1BC9971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147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66345-E692-4E8C-BF15-35E77BF9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92CA2-3D7C-47E5-A781-F30D2A17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0826E-F184-48AD-A58E-A6872DF4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44E63-0314-4365-AA9F-2B494A05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147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19539-B41B-41EC-8122-02746B68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BB872-4FE5-4308-A832-AE512E7B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7697F-A821-46C5-B9E2-731D6EA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Short-lived tokens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38EF9-C544-4921-B798-71A1961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No permanent secret in the 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D62D9-4D3E-4D8F-816D-FCE2FC5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15839-4D22-4510-BEC4-BF986FF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Tenant isolation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A2B50-BA80-441E-8D58-CC7DFE5A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Keys, records, limits and audit boundaries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46104-C2BD-4A8E-A28D-7A4FCC1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412D7-C048-4713-826C-59AF58A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Private data plane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DAAAB7-F177-49A4-8CBC-0C56FCA0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Postgres, Redis, storage and GPU off internet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63512E-FDEB-48E5-ABC4-DA44AB0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B4090-0B93-4520-9851-75CAFEF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Observable delivery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691DFA-C832-49A1-AB51-135943A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Quality, latency, warnings and webhook logs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17C184-33EB-4004-AD6C-D4A4DB9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9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D756B6-679C-4C4A-8845-9756FE85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CFE3D8"/>
                </a:solidFill>
              </a:defRPr>
            </a:pPr>
            <a:r>
              <a:rPr sz="675" b="1" i="0">
                <a:solidFill>
                  <a:srgbClr val="CFE3D8"/>
                </a:solidFill>
              </a:rPr>
              <a:t>PRIVACY COMMITMENT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4E6524-F445-4CE1-9949-21E45BA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81700"/>
            <a:ext cx="843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Shopper photos are processed only for the requested try-on, never used for model training, excluded from logs, and not persistently retained.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70AB52-58F0-4F42-B4DE-92FCE00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1800A1-FC03-45F3-A024-9C0F63D1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TECHNOLOGY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321186-393B-4E1F-B300-A196EB8B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10 / 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2FE4F4-CDA6-4401-BC7C-31FA0486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2A1971-0E53-4A22-8F3B-69F6A25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8466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0302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DB7A5-3939-44D0-ADF1-0EF8842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10 /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BEC4-6900-4CBD-8011-C9B06F26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DFD96-0814-410F-9E9E-FD4A734B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Simple entry pricing, one quality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3885C-9C99-48C9-BA15-44EDF28A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Brands pay for publishable try-ons, not for lower-quality modes. SDK and API share the same Standard pipeline and quota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00260-3CCD-4E66-B1F9-DD89D00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74368-EAEC-4087-BCB2-9950193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STARTER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4E1EC-3D19-47D8-AF0D-7EF75B4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A1A9-F0CC-49DE-B228-098D5AB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97461-C563-41B7-8CC6-C2D7687D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453C8-6D9A-4A04-9A91-7F0EF6F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1,000 try-ons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7E8F4-7EBD-4AE2-BB08-E2DD9C42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Pilot one product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E0F9A-1251-4D95-937E-BEE48A0B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60C1C-5824-46F7-A123-2EB9FB1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45F4C-3771-4BA8-9FBE-0D4EE5B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0E928-BBA5-4BE2-AA86-48B81B2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F6770"/>
                </a:solidFill>
              </a:defRPr>
            </a:pPr>
            <a:r>
              <a:rPr sz="825" b="1" i="0">
                <a:solidFill>
                  <a:srgbClr val="1F6770"/>
                </a:solidFill>
              </a:rPr>
              <a:t>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23BCF-231F-4EA9-8309-4F3751D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$199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A8145-F87B-461E-AE29-9A4B39F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62894-688F-4D78-9B36-DF5B680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5FFB1-FC78-4B5E-A5F9-0612EA9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7,500 try-ons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5406E-3BE6-4F04-9198-1D52A34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Growing DTC 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34A5E-BD9F-471D-AE17-C41C2ED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7E950-9758-4167-90F5-7A01949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62D25-9602-41DB-B7F0-3C8B55E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79714-CCF8-47A3-B1A5-E8CF5351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F627E"/>
                </a:solidFill>
              </a:defRPr>
            </a:pPr>
            <a:r>
              <a:rPr sz="825" b="1" i="0">
                <a:solidFill>
                  <a:srgbClr val="3F627E"/>
                </a:solidFill>
              </a:rPr>
              <a:t>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C474A-8C8C-4696-81F1-62CB5F14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$499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5FF8D-3FBA-4F18-B553-72C79435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4CE62-8461-4775-9C78-A41B787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D4D68-5C91-46F0-9FB1-F76AFC8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25,000 try-ons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3C5353-1041-405D-B2C2-CCF9818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Higher-volume storefront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6F77A-BD81-43E6-A23C-8817954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D0B47-F753-466D-B700-4A3E13A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A0317-B554-46D4-9D06-900A136C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647950" cy="28194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22183-20C4-440F-B6F4-85B60B42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68FD41-CC6A-404F-9CAF-9D333697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E25D40-DDBB-4D76-A2D4-286A7A1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CFE3D8"/>
                </a:solidFill>
              </a:defRPr>
            </a:pPr>
            <a:r>
              <a:rPr sz="1050" b="0" i="0">
                <a:solidFill>
                  <a:srgbClr val="CFE3D8"/>
                </a:solidFill>
              </a:rPr>
              <a:t>Dedicated capacity, SLA, private deployment and catalog onboarding.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868D2-8B06-4768-96CC-4A58276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339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976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80A815-59E9-4129-8736-02F7CCAE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05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Optional revenue 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113C2A-0CC8-40F2-8FBD-E35FEDD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CFE3D8"/>
                </a:solidFill>
              </a:defRPr>
            </a:pPr>
            <a:r>
              <a:rPr sz="825" b="0" i="0">
                <a:solidFill>
                  <a:srgbClr val="CFE3D8"/>
                </a:solidFill>
              </a:rPr>
              <a:t>SKU certification  |  onboarding  |  dedicated infrastructure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7EA61-660A-4469-8849-00B9A3BD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FDB6BE-3697-4D19-9EE1-F8FEC5E7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66736B"/>
                </a:solidFill>
              </a:defRPr>
            </a:pPr>
            <a:r>
              <a:rPr sz="825" b="1" i="0">
                <a:solidFill>
                  <a:srgbClr val="66736B"/>
                </a:solidFill>
              </a:rPr>
              <a:t>Revenue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C5F58C-D2E1-43A2-AF43-7162DE2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7544F"/>
                </a:solidFill>
              </a:defRPr>
            </a:pPr>
            <a:r>
              <a:rPr sz="975" b="1" i="0">
                <a:solidFill>
                  <a:srgbClr val="A7544F"/>
                </a:solidFill>
              </a:rPr>
              <a:t>[REPLACE WITH VERIFIED REVENUE, FUNDING AND CUSTOMER DATA BEFORE SUBMISSION]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CF996B-8BD6-4C6D-A0F7-DA07378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30F9D3-72A4-41DB-BB4E-48182E2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BUSINESS 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915D02-0DB2-43F0-A798-14AF99D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11 / 18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73B8E3-B4B0-4D07-845E-BB278796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6A89FF-3E66-451B-A228-2A7522F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931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2772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CFB6D-96E8-44C9-BA69-20AEFD1D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11 / SCALABILITY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6072B-112A-4CA1-BCBA-1980DF5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E8A9-048A-4D31-8EF1-1C8606D6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Start narrow, prove quality, expand by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2D7D-108A-4F6D-B172-E7A43B1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beachhead is upper-body fashion commerce. New categories enter production only after the same product-accuracy and latency gates are proven.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2834D-F919-4DFD-B956-9E3D6EE0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7361-63B9-40BB-BC37-AEC90AB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800E4-D8F9-48DA-A409-1713AE3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87191-0EE6-4A3B-8C9D-20471E1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E629E-8627-4332-B7CC-9F37E84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Upper-body 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0584C-D38D-4572-9283-E732039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Shirts, T-shirts, polos, hoodies, kurtis, blouses and sleeveless tops.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2938A-08F8-4317-9495-411C1CF4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1C143-C90D-4F86-B9A3-DE05C83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38EE9-91BE-4DB9-A0D8-1C84FB1B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C62BB-C521-4327-AD77-8674936C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B473B-BE41-4E63-AAD1-9260C7F7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3AE12-F7F2-4CF4-852F-D20CF12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Validated expansion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4C8AA-392D-45F7-8A7D-83607DD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Lower-body and full-body after category-specific quality matrices pass.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DFD3E-DA90-4D72-A9AD-48D51167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2C2F8-F609-45C6-A439-3228C2E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DA7B3-2BEA-4986-9678-4C0ACD17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29463-2EDA-4D05-8EAB-3E15B15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1582A-927D-4B34-A57E-AB26F83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F394D-1A1C-4650-BCD0-8D14915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Commerce infrastructure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2262E-1446-4F97-B072-D7A0011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Shopify, SDK, REST API, mobile apps and dedicated enterprise capacity.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8D08C-F2EC-4A80-8A76-FE48CB01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CATALOG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DCAF7-67E2-4891-BC27-32FFAB0A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Prepare once, reuse per SKU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D6D2E-BDEB-446A-9801-E451407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TRAFFIC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408BA-500F-4D6A-BED2-BA18305F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Queue and tenant concurrency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93579-E214-4F3C-83E7-207FC78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QUALITY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1AED7-AB71-4412-8EB2-A041CCE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One release policy across 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EB13A-943C-4B8B-BC80-C56F732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1E3EB5-B49E-4862-89E7-0BF51079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SCALABILITY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5C91D8-5662-42A6-BC30-5FFD832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12 / 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BB55F-3C45-40A3-A35C-FF07B16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F03A5-5A1A-4496-BB88-D28D9DA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01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6515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43B5F-CB3A-4D3E-8ED3-B7915E3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12 / FUTURE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CFF4-9833-4FFC-8081-50BA6C4A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4E551-C9ED-486A-8B2A-0740AB5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One shopper identity. Every try-on category.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DC0B1-AB19-4604-83A4-A5A0C232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long-term opportunity is a category router with specialized engines, connected by one consent, SKU, quality, analytics and brand-delivery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57DF-BEB5-450D-B6EB-F90AA6DA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56650-CA45-45BD-9D2E-0EEEBA12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DRAPIXAI CONTROL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4A3A2-8A16-41B2-92B6-72964B3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Identity  |  consent  |  SKU  | 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24C66-828F-42E7-A79A-FAAB6F9F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 i="0">
                <a:solidFill>
                  <a:srgbClr val="CFE3D8"/>
                </a:solidFill>
              </a:defRPr>
            </a:pPr>
            <a:r>
              <a:rPr sz="900" b="0" i="0">
                <a:solidFill>
                  <a:srgbClr val="CFE3D8"/>
                </a:solidFill>
              </a:rPr>
              <a:t>Routing  |  analytics  |  brand UI  |  retention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A95B2-0231-4C74-BCC3-57E3B01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7432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F9F7B-5EDC-41AE-BF07-7F84A10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F745B"/>
                </a:solidFill>
              </a:defRPr>
            </a:pPr>
            <a:r>
              <a:rPr sz="675" b="1" i="0">
                <a:solidFill>
                  <a:srgbClr val="2F745B"/>
                </a:solidFill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7038-0B7A-4219-860F-EC7B4A2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2019"/>
                </a:solidFill>
              </a:defRPr>
            </a:pPr>
            <a:r>
              <a:rPr sz="1650" b="0" i="0">
                <a:solidFill>
                  <a:srgbClr val="172019"/>
                </a:solidFill>
              </a:rPr>
              <a:t>Upper-body apparel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2D66C-7996-42AB-AA67-B50D294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CatVTON 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A1AE3-622E-4F72-8096-109EAF5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7432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63C84-AD8E-436C-B9AA-F2815260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1F6770"/>
                </a:solidFill>
              </a:defRPr>
            </a:pPr>
            <a:r>
              <a:rPr sz="675" b="1" i="0">
                <a:solidFill>
                  <a:srgbClr val="1F6770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A11E6-7CA5-4120-902A-DC9729F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2019"/>
                </a:solidFill>
              </a:defRPr>
            </a:pPr>
            <a:r>
              <a:rPr sz="1650" b="0" i="0">
                <a:solidFill>
                  <a:srgbClr val="172019"/>
                </a:solidFill>
              </a:rPr>
              <a:t>Full-body + layering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415F1-5D31-45C9-9B51-F2942047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Dresses, bottoms, outfits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2A38F-2F50-4506-8465-ED88DCA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7432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CD1FB-452E-472B-91E7-FC0A335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C78A2A"/>
                </a:solidFill>
              </a:defRPr>
            </a:pPr>
            <a:r>
              <a:rPr sz="675" b="1" i="0">
                <a:solidFill>
                  <a:srgbClr val="C78A2A"/>
                </a:solidFill>
              </a:rPr>
              <a:t>ADJACENT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8E2A3-5229-4B71-896F-28C3656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2019"/>
                </a:solidFill>
              </a:defRPr>
            </a:pPr>
            <a:r>
              <a:rPr sz="1650" b="0" i="0">
                <a:solidFill>
                  <a:srgbClr val="172019"/>
                </a:solidFill>
              </a:rPr>
              <a:t>Jewelry + accessories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B3DF7-99E4-4A2D-91C3-5804DEB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Earrings, necklaces, rings, watches, eyewear, hats, bags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2A132-959D-44E9-A440-F88891E8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7432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A4ECB-B9DC-498C-8103-F96F6396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148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3F627E"/>
                </a:solidFill>
              </a:defRPr>
            </a:pPr>
            <a:r>
              <a:rPr sz="675" b="1" i="0">
                <a:solidFill>
                  <a:srgbClr val="3F627E"/>
                </a:solidFill>
              </a:rPr>
              <a:t>ADJACENT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7CF30-333D-44DC-A089-9C2E0FAF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19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2019"/>
                </a:solidFill>
              </a:defRPr>
            </a:pPr>
            <a:r>
              <a:rPr sz="1650" b="0" i="0">
                <a:solidFill>
                  <a:srgbClr val="172019"/>
                </a:solidFill>
              </a:rPr>
              <a:t>Footwear + beauty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E3A1F-0C2B-43C9-9CDD-663E24C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95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Shoes, makeup shades, hair color and styles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004AC-5F96-4033-A997-7F46D33F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252B2-D35D-4E18-8992-E94678C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4E978-9EBF-4448-BFA1-7B435A1C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86350"/>
            <a:ext cx="914400" cy="-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179A0-05DD-4077-B69D-8E4FC1D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1952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F8CD8-52DD-478B-9A8A-93A0158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8A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49FDB-47F5-4EEA-9B85-94C7E675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0D5AD-FF62-48B8-A7CF-7140C018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9144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627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9EB9C-6DF3-426D-BB70-EC5B024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6252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20E7F-4760-484B-9CE6-EE217C5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47244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2EB3E9-BCE2-432C-80A3-ADFEB6B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F745B"/>
                </a:solidFill>
              </a:defRPr>
            </a:pPr>
            <a:r>
              <a:rPr sz="675" b="1" i="0">
                <a:solidFill>
                  <a:srgbClr val="2F745B"/>
                </a:solidFill>
              </a:rPr>
              <a:t>NOT ONE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3EAD7-6378-4E47-8A87-B7236BD7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2445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Apparel generation  +  face/hand landmarks  +  AR/3D rendering  +  calibrated shade simulation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5CF8CA-F5ED-4D56-ACA2-04FA509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255E56-06C2-4102-8FF9-ED5B395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FUTURE PLATFORM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A9239B-F5A3-4C2D-9204-1942E72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13 / 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59B01C-7718-439B-8A79-037F05C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FFF12A-8936-4165-82F6-ED2D0C7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1006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9710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41750-11CD-4235-BC71-D7FE526B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13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CE1FD-EA15-47F1-A2F6-2D8D4E70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5FD2A-9C4E-460A-AADA-14BE8F28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Product foundation built. Market proof is the next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5DC70-7CD4-4B54-BDAB-166DAB7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is at validation stage: the platform and quality workflow exist; public claims must now be backed by a dated test matrix and pilot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35D91-FAAD-4BB2-ABD2-E657DEF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CF5C5-EDEA-4C75-8E72-9D07325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B07B5-3E43-4C05-B960-609DF5CA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53B35-85AA-4DDB-9862-95F9BF2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Product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1E545-0B47-4F48-9217-B1C17C26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4C638-85E5-4494-BC15-4FEF8135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CatVTON engine, Standard mode, garment cache, SDK/API, dashboard and quality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8B398-C686-42B7-9554-ED1140F7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F5D9D-395B-4BF6-94EA-8A74A463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A3F30-74F1-4AC0-8223-94673C84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Launch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F9E4D-899C-45D3-8973-CF3A99D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DBD43-D194-44F4-AEEC-2F4F473F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50-case garment matrix, security checks, warm latency, tenant isolation and failure recovery.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1B9C1-6B9A-45D6-B099-C2D470C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DCF1E-1BB6-4AD9-876C-0F7C59B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78A2A"/>
                </a:solidFill>
              </a:defRPr>
            </a:pPr>
            <a:r>
              <a:rPr sz="750" b="1" i="0">
                <a:solidFill>
                  <a:srgbClr val="C78A2A"/>
                </a:solidFill>
              </a:rPr>
              <a:t>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F33A9-D6F5-49C2-9EAA-843F871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3-5 brand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5F08F-F231-4331-9CC8-D05E5EA2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4C2FB-84E9-4FC2-A252-0581C69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Measure usage, acceptance, add-to-cart behavior and operational support needs.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ED4F5-25A0-4078-9A3A-E473735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58FCD-9353-48ED-B8F4-0625805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A8C2D-C538-411B-8C9F-DA25E1B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Dedicated capacity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4C933-51D8-4ABC-A9BA-D1C7BB1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3812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8D3B9-8D8D-4FC2-BF2E-22E7D88D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Three concurrent users first; increase only after GPU and latency proof.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A4C7A-0A0E-421F-B062-2F386210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3AF49-3C80-4510-A3C3-7ADE38DD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NEXT PROOF ASSET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93DD4-687E-45F2-8EF6-9AACE05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054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One signed pilot or MoU plus a dated quality matrix will materially strengthen the DPIIT submission.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C37DE-9899-4A84-AEA8-A0E1AD57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4EDFF-D80F-4A69-B286-8174736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D851D-ED55-4637-9A17-FF273D6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14 /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1AFD75-7DCB-4F51-A53E-1A219453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24C6C-2C67-4C80-AC16-0DF04BD9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185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67969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8856C-C2CA-4EC9-913F-DEB4223F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14 / DPIIT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2F416-E70D-46EC-8BA2-4D2F117B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A9A1-E231-45D5-BE00-2B9F7FB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Built for innovation, scalability and economic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59FA2-EAAA-4DB3-8F71-B4F0341F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aligns with the recognition test through a differentiated technology workflow and a repeatable B2B platform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C6E1E-FBCF-4C8C-A60F-B880D30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E66A6-A545-4FCA-909D-848DF75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4B4FF-F6F9-4285-BD4A-0A5664A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A76B8-F438-4E04-99C5-316C8BAB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Innovation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23464-2543-47AF-98C8-5103F53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Product-aware preprocessing, cached SKU assets and a publishability gate around AI generation.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01510-F554-4589-BC71-3B215F74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8450-759C-49CC-91D0-E9704FF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8D84-947D-4B04-AA77-1E3E668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B2628-110A-416A-ADA9-9708FB03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Scalable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FC918-686A-4BFD-9738-5F5443D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One platform can serve many brands through SDK, API, Shopify and mobile integrations.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F3FCF-139F-4144-8719-F2EBF4AD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E02B1-BFA2-479A-83C9-19341862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F1400-528A-4393-9BD9-39EF561D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EA6A5-8F92-4B90-BD4A-42DDB5B4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Employment potential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88215-14DB-44A7-9B25-BE98A767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AI engineering, catalog operations, quality review, merchant success, security and infrastructure.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5354C-24E3-4611-9E29-EDD75A1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AD767-8A9B-41EF-8E7C-7FAA0B2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60D9A-E4A0-4FB0-8547-E62B594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70C59-1B0C-4C99-9BEB-79FF4A5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38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Wealth creation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20934-0BA9-4281-A570-5B05E75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Helps Indian fashion and DTC brands own a branded, data-rich try-on experience on their storefronts.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904F2-B62B-41F1-98E0-DF59283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108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BBF88-377F-4106-9A07-E1B8E60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Recognition 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5C430-C8B5-450A-AA94-B16ECC4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86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DPIIT recognition to accelerate ecosystem access, IP support, compliance readiness, hiring and brand pilots.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AB9D2-5601-4A01-A266-1DCE9DF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86503-174D-4B9A-B03C-0C90F23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DPIIT ALIGNMENT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0D462-5059-4724-A086-F5727D4C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15 / 18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CA6FD-F42A-4372-96BF-C1727625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56EC89-D862-4829-A7EB-DC69C12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27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1813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AA2E0-8A9C-4CF7-9981-6B7886F1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15 / COMPANY AND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26DE4-FDE4-4FB6-8654-E56B735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4AE36-A33D-4DC9-95D8-FA872944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The right team slide is evidence, not decoration.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6A376-779E-4B67-BED3-8290054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Replace every bracketed field with verified founder credentials, ownership and traction before investor or DPIIT circulation.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54912-E839-4BD5-8AE0-199773A6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3337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04B49-22F8-406D-9E09-52A17AD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FE98-E878-4E54-B217-CA49DEE7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16CD-81D5-473C-AF1F-C6F7D6C8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2F745B"/>
                </a:solidFill>
              </a:defRPr>
            </a:pPr>
            <a:r>
              <a:rPr sz="675" b="1" i="0">
                <a:solidFill>
                  <a:srgbClr val="2F745B"/>
                </a:solidFill>
              </a:rPr>
              <a:t>FOUNDER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B0108-BF11-4545-BBAF-C974956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47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A7544F"/>
                </a:solidFill>
              </a:defRPr>
            </a:pPr>
            <a:r>
              <a:rPr sz="1275" b="1" i="0">
                <a:solidFill>
                  <a:srgbClr val="A7544F"/>
                </a:solidFill>
              </a:rPr>
              <a:t>[FOUNDER / DIRECTOR NAME]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378A8-F97A-47F0-9DB9-CAC44DA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72019"/>
                </a:solidFill>
              </a:defRPr>
            </a:pPr>
            <a:r>
              <a:rPr sz="825" b="1" i="0">
                <a:solidFill>
                  <a:srgbClr val="172019"/>
                </a:solidFill>
              </a:rPr>
              <a:t>[ROLE: PRODUCT / BUSINESS]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8FE33-6438-47E4-A959-68D08256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[EDUCATION]  |  [RELEVANT EXPERIENCE]  |  [RESPONSIBILITY]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31E2F-EEE6-4418-9A31-B2C2E44F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33337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90E8C-C5E2-4A5B-992E-C336B426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C6DBF-4BD0-4C95-ADD1-31D961A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36E28-6934-4BE6-8F69-73E6265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1F6770"/>
                </a:solidFill>
              </a:defRPr>
            </a:pPr>
            <a:r>
              <a:rPr sz="675" b="1" i="0">
                <a:solidFill>
                  <a:srgbClr val="1F6770"/>
                </a:solidFill>
              </a:rPr>
              <a:t>FOUNDER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2C52E-3917-4220-93C5-5808DBD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A7544F"/>
                </a:solidFill>
              </a:defRPr>
            </a:pPr>
            <a:r>
              <a:rPr sz="1275" b="1" i="0">
                <a:solidFill>
                  <a:srgbClr val="A7544F"/>
                </a:solidFill>
              </a:rPr>
              <a:t>[FOUNDER / DIRECTOR NAME]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5F7F4-B301-4334-808D-79FCEA9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72019"/>
                </a:solidFill>
              </a:defRPr>
            </a:pPr>
            <a:r>
              <a:rPr sz="825" b="1" i="0">
                <a:solidFill>
                  <a:srgbClr val="172019"/>
                </a:solidFill>
              </a:rPr>
              <a:t>[ROLE: TECHNOLOGY / OPERATIONS]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7681F-CAB9-4E13-BF09-7C7F6A3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 i="0">
                <a:solidFill>
                  <a:srgbClr val="66736B"/>
                </a:solidFill>
              </a:defRPr>
            </a:pPr>
            <a:r>
              <a:rPr sz="750" b="0" i="0">
                <a:solidFill>
                  <a:srgbClr val="66736B"/>
                </a:solidFill>
              </a:rPr>
              <a:t>[EDUCATION]  |  [RELEVANT EXPERIENCE]  |  [RESPONSIBILITY]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3044B-9AFD-42EC-9BB1-E21D037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28850"/>
            <a:ext cx="361950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A8E7D-C07B-4D93-AF31-D4BA3CB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NEXT KEY HIRES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580A1-B092-4B98-8F71-4B8C8750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ML / quality engineer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A4DD5-16FF-43CA-A0E1-AB7B427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Infrastructure +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129CC-01CC-46B9-B04C-EB763FE7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Merchant success + catalog 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33D37-9D19-4385-819E-B82450F7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9CB5B-FFB7-4E4E-9C4F-5DE43A7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VERIFIED COMPANY 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F1798-FDB8-4D22-AA4D-8B13979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LEGAL 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B591A-5C5D-4CDE-BC5F-514FEB6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[LEGAL NAME + TYPE]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73C75-E21E-4D56-AA1F-306F9EF3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57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INCORPORATED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B6CC9-04CA-4BE2-9BC9-36A4270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48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[DATE + CIN / LLPIN]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4D56C-DD15-4B96-A035-B2E9CAC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SHAREHOLDING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968AF-8894-4A26-8A3A-D16BB19E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[NAME | % | CITIZENSHIP]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7C0F9-5979-4FFA-93FF-25841CD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FUNDING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D7895-0FAE-49E6-86E9-AC9D6E80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[NONE / VERIFIED DETAILS]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056C6B-5440-4679-8EF4-FC1538A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721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REVENUE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E213D5-F5A7-42AB-BC3F-DDF6BBC8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6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[VERIFIED FY-WISE DATA]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881FE3-935B-4922-A7A2-4AEA78D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721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" b="1" i="0">
                <a:solidFill>
                  <a:srgbClr val="66736B"/>
                </a:solidFill>
              </a:defRPr>
            </a:pPr>
            <a:r>
              <a:rPr sz="600" b="1" i="0">
                <a:solidFill>
                  <a:srgbClr val="66736B"/>
                </a:solidFill>
              </a:rPr>
              <a:t>CUSTOMERS / PILOTS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68796-1006-459C-A4F9-9871F12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[COUNT + CONTRACT / MOU]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455FF-9F81-4CBB-88FB-173374B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2DC746-CA85-4D32-9122-4C467928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COMPANY AND TEAM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AE30C-EB47-455C-9B20-EF024E3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16 / 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D3A8B-CDA4-4B29-8C0D-F8F2DAB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E39C10-24AB-4A17-9CBE-2E22EA1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35466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23752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577B9-ECEB-4FEB-B343-8802F35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16 / INVESTMENT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0A7FA-463F-4EAC-BE25-246DF60C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A68CB-79BC-4689-926E-5971428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Capital should convert product proof into repeatable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B6548-69EB-4739-A423-FF048FB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round size, runway and revenue milestone must be founder-approved. The allocation below is a proposed operating plan, not a completed financing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CEE1E-0078-493D-9ACF-2CD5B43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36385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EBCB0-C520-4D2B-A9B1-24E1FCC4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PROPOSED 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13699-61C9-4299-B23F-6A1950B4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FFFFFF"/>
                </a:solidFill>
              </a:defRPr>
            </a:pPr>
            <a:r>
              <a:rPr sz="3150" b="0" i="0">
                <a:solidFill>
                  <a:srgbClr val="FFFFFF"/>
                </a:solidFill>
              </a:rPr>
              <a:t>[SEED ASK]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F94D1-7390-4E3C-9A3E-6E6E95AE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FE3D8"/>
                </a:solidFill>
              </a:defRPr>
            </a:pPr>
            <a:r>
              <a:rPr sz="975" b="1" i="0">
                <a:solidFill>
                  <a:srgbClr val="CFE3D8"/>
                </a:solidFill>
              </a:rPr>
              <a:t>[18-MONTH RUNWAY]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D1804-AE27-414A-B72F-CA22ACA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72ED3-8118-481E-9AFB-CED95ED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Round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8860B-1C07-496F-89CA-B5683B7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Prove quality at scale, sign reference brands, harden public infrastructure and establish repeatable onboarding.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C05AB-727C-450A-9658-0F46757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PROPOSED USE OF FUNDS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A25CE-F90F-4AB9-B0FB-1205C1A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AI quality +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7720C-F134-4547-993A-3E8CECB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A41E0-F820-4ACC-84F0-8B67ED4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2A67D-2078-4129-B541-90E43F5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35%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50872-8F49-41BA-8E10-F1EC58D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Go-to-market + pilots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247C9-4B81-4AAF-B4A0-C7981589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3CC3B-0CF7-46CE-B22F-2F36F987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1905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F455F-0D41-490C-9961-03CDBC46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1F6770"/>
                </a:solidFill>
              </a:defRPr>
            </a:pPr>
            <a:r>
              <a:rPr sz="900" b="1" i="0">
                <a:solidFill>
                  <a:srgbClr val="1F6770"/>
                </a:solidFill>
              </a:rPr>
              <a:t>25%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32825-751C-41C9-8A00-CB73EB8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Infrastructure +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6DC24-E327-4744-8B3E-EE327F5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7CFA6-B35F-465E-B2BC-FA28846C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1524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CEFE3-AEC9-42D9-AF4E-D5667C7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957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3F627E"/>
                </a:solidFill>
              </a:defRPr>
            </a:pPr>
            <a:r>
              <a:rPr sz="900" b="1" i="0">
                <a:solidFill>
                  <a:srgbClr val="3F627E"/>
                </a:solidFill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5DC93-CC3C-4AB1-AFD1-95DAFC7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Commerce 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B7EF0-5B57-4DE5-ABCA-1F15D0E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90103-2223-41C8-8B96-0728CDB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93D35-0AA0-4EB6-B96B-1B475E2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C78A2A"/>
                </a:solidFill>
              </a:defRPr>
            </a:pPr>
            <a:r>
              <a:rPr sz="900" b="1" i="0">
                <a:solidFill>
                  <a:srgbClr val="C78A2A"/>
                </a:solidFill>
              </a:rPr>
              <a:t>10%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94D65-C29A-4353-A9D0-9DB64AF4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Operations + compliance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0EF16E-2A8A-4121-A066-101CF6E5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667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35B9F-9460-428B-859E-31DE1FA4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544F"/>
          </a:solidFill>
          <a:ln xmlns:a="http://schemas.openxmlformats.org/drawingml/2006/main" w="0">
            <a:solidFill>
              <a:srgbClr val="A754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3F49F-9D87-42A8-B2A7-B11DEE87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10%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FA015-76DC-4E31-846A-6401E4E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18-MONTH EVIDENCE MILESTONES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5C5D3-DC2B-477C-B8F0-FC76E05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7690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172019"/>
                </a:solidFill>
              </a:defRPr>
            </a:pPr>
            <a:r>
              <a:rPr sz="900" b="1" i="0">
                <a:solidFill>
                  <a:srgbClr val="172019"/>
                </a:solidFill>
              </a:rPr>
              <a:t>3-5 signed pilots  |  50-case quality matrix  |  Shopify + API GA  |  3-user GPU concurrency  |  [ARR TARGET]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180423-D49D-4F5E-87AC-9A795D0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34D35B-AB71-4365-9C25-1D337233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INVESTMENT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932B31-FA6F-4421-AFEB-98523D5D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17 / 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811227-9ACA-47B2-87F3-1321F8C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8AC530-8DA6-4901-A914-CF92E31A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43933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8309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2A3B59-7FD8-44DE-A8A4-C2D178A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d3ac3682b45dc"/>
          <a:stretch xmlns:a="http://schemas.openxmlformats.org/drawingml/2006/main"/>
        </p:blipFill>
        <p:spPr>
          <a:xfrm xmlns:a="http://schemas.openxmlformats.org/drawingml/2006/main">
            <a:off x="0" y="190500"/>
            <a:ext cx="4857750" cy="647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7615B-60DB-472B-BB31-3993C2C9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262a6003543c6"/>
          <a:stretch xmlns:a="http://schemas.openxmlformats.org/drawingml/2006/main"/>
        </p:blipFill>
        <p:spPr>
          <a:xfrm xmlns:a="http://schemas.openxmlformats.org/drawingml/2006/main">
            <a:off x="5543550" y="5905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B6331-F8BD-4105-821B-47D2E084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00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FE3D8"/>
                </a:solidFill>
              </a:defRPr>
            </a:pPr>
            <a:r>
              <a:rPr sz="900" b="1" i="0">
                <a:solidFill>
                  <a:srgbClr val="CFE3D8"/>
                </a:solidFill>
              </a:rPr>
              <a:t>BUILT IN INDIA FOR FASHION COMMERCE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E6813-70E0-4A75-93D4-855D059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7645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Make the real product the hero.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EEABE-7157-4169-8232-A67BB11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19500"/>
            <a:ext cx="552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CFE3D8"/>
                </a:solidFill>
              </a:defRPr>
            </a:pPr>
            <a:r>
              <a:rPr sz="1350" b="0" i="0">
                <a:solidFill>
                  <a:srgbClr val="CFE3D8"/>
                </a:solidFill>
              </a:rPr>
              <a:t>DrapixAI gives brands a controlled path from SKU to shopper: prepare the garment, preserve product identity, reject doubtful outputs, and publish through a native storefront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D19AE-1917-401B-9617-CDE4718B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292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976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0FDE-94CF-4C5F-AA05-ECF5E3F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76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PARTNERSHIP + RECOGNITION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B92FC-DCB3-48CC-BB47-9F79E601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00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Back the validation and scale-up of garment-faithful AI infrastructure for fashion brands.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645E-8974-402A-8922-B29388E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40080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[REGISTERED EMAIL]   |   [WEBSITE]   |   [CITY, INDIA]</a:t>
            </a:r>
          </a:p>
        </p:txBody>
      </p:sp>
    </p:spTree>
    <p:extLst>
      <p:ext uri="{BB962C8B-B14F-4D97-AF65-F5344CB8AC3E}">
        <p14:creationId xmlns:p14="http://schemas.microsoft.com/office/powerpoint/2010/main" val="1475057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2026-08-02T23:31:00.6390000Z</dcterms:created>
  <dcterms:modified xsi:type="dcterms:W3CDTF">2026-08-02T23:31:00.6390000Z</dcterms:modified>
</coreProperties>
</file>