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3ccbd3fafa4533" /><Relationship Type="http://schemas.openxmlformats.org/officeDocument/2006/relationships/extended-properties" Target="/docProps/app.xml" Id="R285986fb6a674542" /><Relationship Type="http://schemas.openxmlformats.org/officeDocument/2006/relationships/officeDocument" Target="/ppt/presentation.xml" Id="R52eb34f819dc4e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6879afb79e4576"/>
  </p:sldMasterIdLst>
  <p:notesMasterIdLst>
    <p:notesMasterId xmlns:r="http://schemas.openxmlformats.org/officeDocument/2006/relationships" r:id="R621b6f088bf3448c"/>
  </p:notesMasterIdLst>
  <p:sldIdLst>
    <p:sldId xmlns:r="http://schemas.openxmlformats.org/officeDocument/2006/relationships" id="256" r:id="R2eef9d83f67e4ce7"/>
    <p:sldId xmlns:r="http://schemas.openxmlformats.org/officeDocument/2006/relationships" id="257" r:id="R9b4d07c35a824872"/>
    <p:sldId xmlns:r="http://schemas.openxmlformats.org/officeDocument/2006/relationships" id="258" r:id="R8ebb361ff4bd4d40"/>
    <p:sldId xmlns:r="http://schemas.openxmlformats.org/officeDocument/2006/relationships" id="259" r:id="R7a6e7db549f4410f"/>
    <p:sldId xmlns:r="http://schemas.openxmlformats.org/officeDocument/2006/relationships" id="260" r:id="Rd677decb492a4b8d"/>
    <p:sldId xmlns:r="http://schemas.openxmlformats.org/officeDocument/2006/relationships" id="261" r:id="R7e6c046d9dd14bb8"/>
    <p:sldId xmlns:r="http://schemas.openxmlformats.org/officeDocument/2006/relationships" id="262" r:id="Rcbae327eb0384667"/>
    <p:sldId xmlns:r="http://schemas.openxmlformats.org/officeDocument/2006/relationships" id="263" r:id="Rcd6d347f2cdb47da"/>
    <p:sldId xmlns:r="http://schemas.openxmlformats.org/officeDocument/2006/relationships" id="264" r:id="R070fc07b9b0f48ea"/>
    <p:sldId xmlns:r="http://schemas.openxmlformats.org/officeDocument/2006/relationships" id="265" r:id="R462eef3329ad4d60"/>
    <p:sldId xmlns:r="http://schemas.openxmlformats.org/officeDocument/2006/relationships" id="266" r:id="Re3be9de8bfa04b69"/>
    <p:sldId xmlns:r="http://schemas.openxmlformats.org/officeDocument/2006/relationships" id="267" r:id="R2a09dc63fcef4542"/>
    <p:sldId xmlns:r="http://schemas.openxmlformats.org/officeDocument/2006/relationships" id="268" r:id="R263cf53e4807415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784c1ba6f304d65" /><Relationship Type="http://schemas.openxmlformats.org/officeDocument/2006/relationships/slideMaster" Target="/ppt/slideMasters/slideMaster1.xml" Id="R996879afb79e4576" /><Relationship Type="http://schemas.openxmlformats.org/officeDocument/2006/relationships/notesMaster" Target="/ppt/notesMasters/notesMaster1.xml" Id="R621b6f088bf3448c" /><Relationship Type="http://schemas.openxmlformats.org/officeDocument/2006/relationships/presProps" Target="/ppt/presProps.xml" Id="R878f9bbb35fe444d" /><Relationship Type="http://schemas.openxmlformats.org/officeDocument/2006/relationships/tableStyles" Target="/ppt/tableStyles.xml" Id="R0c179fcba08f4521" /><Relationship Type="http://schemas.openxmlformats.org/officeDocument/2006/relationships/slide" Target="/ppt/slides/slide1.xml" Id="R2eef9d83f67e4ce7" /><Relationship Type="http://schemas.openxmlformats.org/officeDocument/2006/relationships/slide" Target="/ppt/slides/slide2.xml" Id="R9b4d07c35a824872" /><Relationship Type="http://schemas.openxmlformats.org/officeDocument/2006/relationships/slide" Target="/ppt/slides/slide3.xml" Id="R8ebb361ff4bd4d40" /><Relationship Type="http://schemas.openxmlformats.org/officeDocument/2006/relationships/slide" Target="/ppt/slides/slide4.xml" Id="R7a6e7db549f4410f" /><Relationship Type="http://schemas.openxmlformats.org/officeDocument/2006/relationships/slide" Target="/ppt/slides/slide5.xml" Id="Rd677decb492a4b8d" /><Relationship Type="http://schemas.openxmlformats.org/officeDocument/2006/relationships/slide" Target="/ppt/slides/slide6.xml" Id="R7e6c046d9dd14bb8" /><Relationship Type="http://schemas.openxmlformats.org/officeDocument/2006/relationships/slide" Target="/ppt/slides/slide7.xml" Id="Rcbae327eb0384667" /><Relationship Type="http://schemas.openxmlformats.org/officeDocument/2006/relationships/slide" Target="/ppt/slides/slide8.xml" Id="Rcd6d347f2cdb47da" /><Relationship Type="http://schemas.openxmlformats.org/officeDocument/2006/relationships/slide" Target="/ppt/slides/slide9.xml" Id="R070fc07b9b0f48ea" /><Relationship Type="http://schemas.openxmlformats.org/officeDocument/2006/relationships/slide" Target="/ppt/slides/slide10.xml" Id="R462eef3329ad4d60" /><Relationship Type="http://schemas.openxmlformats.org/officeDocument/2006/relationships/slide" Target="/ppt/slides/slide11.xml" Id="Re3be9de8bfa04b69" /><Relationship Type="http://schemas.openxmlformats.org/officeDocument/2006/relationships/slide" Target="/ppt/slides/slide12.xml" Id="R2a09dc63fcef4542" /><Relationship Type="http://schemas.openxmlformats.org/officeDocument/2006/relationships/slide" Target="/ppt/slides/slide13.xml" Id="R263cf53e480741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bfa8f5f5e44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9407ac053984885" /><Relationship Type="http://schemas.openxmlformats.org/officeDocument/2006/relationships/notesMaster" Target="/ppt/notesMasters/notesMaster1.xml" Id="Rc3cadad4ebc743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730e30a38248e7" /><Relationship Type="http://schemas.openxmlformats.org/officeDocument/2006/relationships/notesMaster" Target="/ppt/notesMasters/notesMaster1.xml" Id="R7cea98121e934c8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5a0f11e5e9941e4" /><Relationship Type="http://schemas.openxmlformats.org/officeDocument/2006/relationships/notesMaster" Target="/ppt/notesMasters/notesMaster1.xml" Id="Ra0bf83d3a03a47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86e546bcc6c4da3" /><Relationship Type="http://schemas.openxmlformats.org/officeDocument/2006/relationships/notesMaster" Target="/ppt/notesMasters/notesMaster1.xml" Id="R1c32ac488cbb4c1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87e41cf72477b" /><Relationship Type="http://schemas.openxmlformats.org/officeDocument/2006/relationships/notesMaster" Target="/ppt/notesMasters/notesMaster1.xml" Id="R0845cf351f0f4c5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aefe3cbee4737" /><Relationship Type="http://schemas.openxmlformats.org/officeDocument/2006/relationships/notesMaster" Target="/ppt/notesMasters/notesMaster1.xml" Id="R9fc8189bdacb47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f1708a4ce4d32" /><Relationship Type="http://schemas.openxmlformats.org/officeDocument/2006/relationships/notesMaster" Target="/ppt/notesMasters/notesMaster1.xml" Id="Rac897c81f9f446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0bdee718e22426b" /><Relationship Type="http://schemas.openxmlformats.org/officeDocument/2006/relationships/notesMaster" Target="/ppt/notesMasters/notesMaster1.xml" Id="R56b18bedb69c46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cd876d475b24a1e" /><Relationship Type="http://schemas.openxmlformats.org/officeDocument/2006/relationships/notesMaster" Target="/ppt/notesMasters/notesMaster1.xml" Id="R5df2475ecdaa42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10cff0054ea4b28" /><Relationship Type="http://schemas.openxmlformats.org/officeDocument/2006/relationships/notesMaster" Target="/ppt/notesMasters/notesMaster1.xml" Id="Rce73ba4660f7472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b5fb7222b3a4cb2" /><Relationship Type="http://schemas.openxmlformats.org/officeDocument/2006/relationships/notesMaster" Target="/ppt/notesMasters/notesMaster1.xml" Id="R8aa98485f0c84a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ef727c5a2344b0" /><Relationship Type="http://schemas.openxmlformats.org/officeDocument/2006/relationships/notesMaster" Target="/ppt/notesMasters/notesMaster1.xml" Id="R97fc54255005409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8adc68a897b4ade" /><Relationship Type="http://schemas.openxmlformats.org/officeDocument/2006/relationships/notesMaster" Target="/ppt/notesMasters/notesMaster1.xml" Id="Rb923988564f049d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distinction: DrapixAI is infrastructure for controlled fashion commerce, not a general image-generation demo.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asset: apps/web/public/hero-female-tryon-v2.png</a:t>
            </a:r>
          </a:p>
          <a:p xmlns:a="http://schemas.openxmlformats.org/drawingml/2006/main">
            <a:r>
              <a:t>- Internal asset: apps/web/public/drapixai_logo.webp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Keep this qualitative. The problem is not that every try-on fails; it is that brands cannot treat an uncontrolled plausible image as a product representation.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docs/competitive-strategy-2026.md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left to right. The innovation is the controlled chain around generation: SKU mapping, reusable garment cache, validation, Standard generation, and publishability.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docs/public-api-v1.md</a:t>
            </a:r>
          </a:p>
          <a:p xmlns:a="http://schemas.openxmlformats.org/drawingml/2006/main">
            <a:r>
              <a:t>- Internal: docs/catvton_quality_stack.md</a:t>
            </a:r>
          </a:p>
          <a:p xmlns:a="http://schemas.openxmlformats.org/drawingml/2006/main">
            <a:r>
              <a:t>- Internal: apps/web/app/page.tsx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 explicit that 0.95 and 10-12 seconds are release targets unless a dated matrix is attached. This prevents an aspiration from being represented as audited traction.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asset: apps/web/public/hero-standard-tryon.png</a:t>
            </a:r>
          </a:p>
          <a:p xmlns:a="http://schemas.openxmlformats.org/drawingml/2006/main">
            <a:r>
              <a:t>- Internal: docs/catvton_quality_stack.md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category comparison, not a claim that competitors lack quality. FASHN positions around a broad API suite and fast developer access. Style.me positions around 3D garment digitization, measurements, styling, and plugins. DrapixAI's wedge is SKU-level garment preparation plus a publishability gate for image-based try-on.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https://fashn.ai/products/api (accessed 2026-08-03)</a:t>
            </a:r>
          </a:p>
          <a:p xmlns:a="http://schemas.openxmlformats.org/drawingml/2006/main">
            <a:r>
              <a:t>- https://style.me/faq/ (accessed 2026-08-03)</a:t>
            </a:r>
          </a:p>
          <a:p xmlns:a="http://schemas.openxmlformats.org/drawingml/2006/main">
            <a:r>
              <a:t>- Internal: docs/competitive-strategy-2026.md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DPIIT asks for innovation and scalability. Emphasize the system-level innovation: reusable product preparation and a policy-aware quality gate around the generation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docs/catvton_quality_stack.md</a:t>
            </a:r>
          </a:p>
          <a:p xmlns:a="http://schemas.openxmlformats.org/drawingml/2006/main">
            <a:r>
              <a:t>- Internal: docs/public-api-v1.md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https://www.startupindia.gov.in/content/sih/en/startupgov/startup_recognition_page.html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this as the intended production architecture. Live staging evidence, tenant attack tests, secret management, and an authorized penetration test remain launch gates until documented.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Internal: docs/public-api-v1.md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plan amounts come from the current DrapixAI website configuration. Confirm that they remain approved before submission. Keep revenue, customer and funding data as verified facts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apps/web/app/page.tsx</a:t>
            </a:r>
          </a:p>
          <a:p xmlns:a="http://schemas.openxmlformats.org/drawingml/2006/main">
            <a:r>
              <a:t>- Internal: docs/public-api-v1.md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roadmap is deliberately gated. Lower-body and full-body are future expansion, not current public capability claims.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docs/public-launch-readiness-checklist.md</a:t>
            </a:r>
          </a:p>
          <a:p xmlns:a="http://schemas.openxmlformats.org/drawingml/2006/main">
            <a:r>
              <a:t>- Internal: docs/competitive-strategy-2026.md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describe code completion as commercial traction. Startup India guidance asks for customer/user counts and at least one contract, work order, or MoU where available. Attach real evidence when obtained.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https://www.startupindia.gov.in/content/dam/invest-india/Form80IAC_Pitchdeck-Guidelines.pdf (accessed 2026-08-03)</a:t>
            </a:r>
          </a:p>
          <a:p xmlns:a="http://schemas.openxmlformats.org/drawingml/2006/main">
            <a:r>
              <a:t>- Internal: docs/public-launch-readiness-checklist.md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Tie every point back to potential, not guaranteed outcomes. Current DPIIT criteria include innovation or improvement and a scalable model with employment or wealth-creation potential.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https://www.startupindia.gov.in/content/sih/en/startupgov/startup_recognition_page.html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is a founder action item. Replace every bracketed field with authorized, current facts and verify them against incorporation records, cap table, accounts, and signed commercial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https://www.startupindia.gov.in/content/dam/invest-india/frequently-asked-question.pdf (accessed 2026-08-03)</a:t>
            </a:r>
          </a:p>
          <a:p xmlns:a="http://schemas.openxmlformats.org/drawingml/2006/main">
            <a:r>
              <a:t>- https://www.startupindia.gov.in/content/dam/invest-india/Form80IAC_Pitchdeck-Guidelines.pdf (accessed 2026-08-03)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on the product promise and the recognition ask. Replace the contact placeholders before export.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asset: C:/Users/tanis/OneDrive/Desktop/Results/garment_green_shirt.jpg</a:t>
            </a:r>
          </a:p>
          <a:p xmlns:a="http://schemas.openxmlformats.org/drawingml/2006/main">
            <a:r>
              <a:t>- Internal asset: apps/web/public/drapixai_emblem.webp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b2d8dd68bf4d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44ae32de944d7e" /><Relationship Type="http://schemas.openxmlformats.org/officeDocument/2006/relationships/slideLayout" Target="/ppt/slideLayouts/slideLayout1.xml" Id="R28c81f9ac5ea4d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c81f9ac5ea4d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36f288d4344c2" /><Relationship Type="http://schemas.openxmlformats.org/officeDocument/2006/relationships/image" Target="/ppt/media/image.png" Id="Re812e637e1384db4" /><Relationship Type="http://schemas.openxmlformats.org/officeDocument/2006/relationships/image" Target="/ppt/media/image.bin" Id="R90f74771850d42ac" /><Relationship Type="http://schemas.openxmlformats.org/officeDocument/2006/relationships/notesSlide" Target="/ppt/notesSlides/notesSlide1.xml" Id="Rbdeeccfb620648c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856e44502244b4" /><Relationship Type="http://schemas.openxmlformats.org/officeDocument/2006/relationships/notesSlide" Target="/ppt/notesSlides/notesSlide2.xml" Id="Re674e697fc2a41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907adb026b413b" /><Relationship Type="http://schemas.openxmlformats.org/officeDocument/2006/relationships/notesSlide" Target="/ppt/notesSlides/notesSlide3.xml" Id="R4011bb4cfd8f46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c056858e04b14" /><Relationship Type="http://schemas.openxmlformats.org/officeDocument/2006/relationships/image" Target="/ppt/media/image2.png" Id="R3c86bc777db84fd2" /><Relationship Type="http://schemas.openxmlformats.org/officeDocument/2006/relationships/notesSlide" Target="/ppt/notesSlides/notesSlide4.xml" Id="R14031559fdf74a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176fde6d024463" /><Relationship Type="http://schemas.openxmlformats.org/officeDocument/2006/relationships/notesSlide" Target="/ppt/notesSlides/notesSlide5.xml" Id="Recef5ec0308c473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e0e113b4b4ca6" /><Relationship Type="http://schemas.openxmlformats.org/officeDocument/2006/relationships/notesSlide" Target="/ppt/notesSlides/notesSlide6.xml" Id="Re5f5ac7a65734bf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bb4877e6fa48a0" /><Relationship Type="http://schemas.openxmlformats.org/officeDocument/2006/relationships/notesSlide" Target="/ppt/notesSlides/notesSlide7.xml" Id="Rf3c02441913f44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005c2c564a01" /><Relationship Type="http://schemas.openxmlformats.org/officeDocument/2006/relationships/notesSlide" Target="/ppt/notesSlides/notesSlide8.xml" Id="Rced5ea0d4d5d42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9aa7017af347f9" /><Relationship Type="http://schemas.openxmlformats.org/officeDocument/2006/relationships/notesSlide" Target="/ppt/notesSlides/notesSlide9.xml" Id="Rd14fbc69df0a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baf3b68d14bca" /><Relationship Type="http://schemas.openxmlformats.org/officeDocument/2006/relationships/notesSlide" Target="/ppt/notesSlides/notesSlide10.xml" Id="R1a7072d2e2a94a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dd4045c6a43ee" /><Relationship Type="http://schemas.openxmlformats.org/officeDocument/2006/relationships/notesSlide" Target="/ppt/notesSlides/notesSlide11.xml" Id="Ra0c21f5be31e457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05ccda599f479d" /><Relationship Type="http://schemas.openxmlformats.org/officeDocument/2006/relationships/notesSlide" Target="/ppt/notesSlides/notesSlide12.xml" Id="Rf99049fbd00044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6b320f2d68460e" /><Relationship Type="http://schemas.openxmlformats.org/officeDocument/2006/relationships/image" Target="/ppt/media/image.jpeg" Id="R267f5c07f33b4269" /><Relationship Type="http://schemas.openxmlformats.org/officeDocument/2006/relationships/image" Target="/ppt/media/image2.bin" Id="R33a2a03cf4604160" /><Relationship Type="http://schemas.openxmlformats.org/officeDocument/2006/relationships/notesSlide" Target="/ppt/notesSlides/notesSlide13.xml" Id="R7dfa35df2a1142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6BB930-8FDA-4DC7-8307-AC30D280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151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F7F8F5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12e637e1384db4"/>
          <a:srcRect xmlns:a="http://schemas.openxmlformats.org/drawingml/2006/main" l="0" t="3023" r="0" b="30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15125" y="0"/>
            <a:ext cx="547687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CE1C9-E9BB-435C-835A-D978EFC6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619750"/>
            <a:ext cx="54768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74771850d42ac"/>
          <a:stretch xmlns:a="http://schemas.openxmlformats.org/drawingml/2006/main"/>
        </p:blipFill>
        <p:spPr>
          <a:xfrm xmlns:a="http://schemas.openxmlformats.org/drawingml/2006/main">
            <a:off x="1255899" y="514350"/>
            <a:ext cx="812426" cy="5524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97AF19-DA87-49CD-A2E7-55A3A3A4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GARMENT-FAITHFUL VIRTUAL TRY-ON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3C69EB-A8A7-48D3-A42C-B0FB6B1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4350" b="0" i="0">
                <a:solidFill>
                  <a:srgbClr val="172019"/>
                </a:solidFill>
              </a:defRPr>
            </a:pPr>
            <a:r>
              <a:rPr sz="4350" b="0" i="0">
                <a:solidFill>
                  <a:srgbClr val="172019"/>
                </a:solidFill>
              </a:rPr>
              <a:t>DrapixAI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DD611-5B98-4910-BDBD-F3446B6F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095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475" b="0" i="0">
                <a:solidFill>
                  <a:srgbClr val="172019"/>
                </a:solidFill>
              </a:defRPr>
            </a:pPr>
            <a:r>
              <a:rPr sz="2475" b="0" i="0">
                <a:solidFill>
                  <a:srgbClr val="172019"/>
                </a:solidFill>
              </a:rPr>
              <a:t>Fashion commerce should show the real product, not a look-alike.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73071-C430-48B5-97E3-98CEDC19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A controlled virtual try-on platform for fashion brands: product mapping, approved garment assets, Standard generation, quality gating, and brand-native delivery.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91758-2266-4126-8D22-71497A5D7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21145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912347-3019-44BE-9DE1-60E4B796F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48325"/>
            <a:ext cx="1924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DPIIT STARTUP RECOGNITION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980880-76DE-4849-9622-67FEB1A0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38800"/>
            <a:ext cx="14859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7B71A-1240-4202-B097-89E27DA2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48325"/>
            <a:ext cx="1295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VALIDATION STAGE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D9AC2-0F1D-4A37-9202-B8885D93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66736B"/>
                </a:solidFill>
              </a:defRPr>
            </a:pPr>
            <a:r>
              <a:rPr sz="750" b="1" i="0">
                <a:solidFill>
                  <a:srgbClr val="66736B"/>
                </a:solidFill>
              </a:rPr>
              <a:t>2026 APPLICATION DECK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DB3E6F-421F-4172-AA47-001891D1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8959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SH-2071  |  STANDARD OUTPUT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4EC330-A546-4F04-9017-40B1E58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62103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FFFFFF"/>
                </a:solidFill>
              </a:defRPr>
            </a:pPr>
            <a:r>
              <a:rPr sz="1875" b="0" i="0">
                <a:solidFill>
                  <a:srgbClr val="FFFFFF"/>
                </a:solidFill>
              </a:rPr>
              <a:t>Product fidelity first.</a:t>
            </a:r>
          </a:p>
        </p:txBody>
      </p:sp>
    </p:spTree>
    <p:extLst>
      <p:ext uri="{BB962C8B-B14F-4D97-AF65-F5344CB8AC3E}">
        <p14:creationId xmlns:p14="http://schemas.microsoft.com/office/powerpoint/2010/main" val="1572296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8F8D10-6552-410F-963C-EF8AC981F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01 / 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FF604-1347-4683-AFAC-218BAB9B4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A71A97-952A-4CDD-B469-00B66233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The product page still asks shoppers to imagine the answer.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38DCA7-ACA2-4F36-ABF8-E00AB7F23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A product photograph shows the garment. It does not show whether that exact product remains recognizable on the shopper.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8B0CC5-0004-47A8-BBCB-339FB62D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10820400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AB6FD9-893D-4F74-9936-1190D5EDE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05075"/>
            <a:ext cx="8715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0" i="0">
                <a:solidFill>
                  <a:srgbClr val="FFFFFF"/>
                </a:solidFill>
              </a:defRPr>
            </a:pPr>
            <a:r>
              <a:rPr sz="2550" b="0" i="0">
                <a:solidFill>
                  <a:srgbClr val="FFFFFF"/>
                </a:solidFill>
              </a:rPr>
              <a:t>Will this exact garment still look like this on me?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39022-9FEA-40F7-AE72-FAAB26DF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81275"/>
            <a:ext cx="1285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The unanswered purchase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FF3AAD-3ECD-48E6-9626-1648B7D32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3333750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2F0D5D-91C3-46E6-8978-15783C3D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05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2F745B"/>
                </a:solidFill>
              </a:defRPr>
            </a:pPr>
            <a:r>
              <a:rPr sz="1950" b="0" i="0">
                <a:solidFill>
                  <a:srgbClr val="2F745B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D236CA-C990-41DA-A6EB-4A253770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Garment drift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786EE8-20A3-493F-8B43-60150FC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AA9B9-8D53-48EA-BE4C-D05D7882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149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Color, print, collar, sleeve or hem can change during generation.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658A91-4111-4147-BF38-0B2AEA91D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95700"/>
            <a:ext cx="3333750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74EDB5-4383-47D7-B23C-38C64BF8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05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2F745B"/>
                </a:solidFill>
              </a:defRPr>
            </a:pPr>
            <a:r>
              <a:rPr sz="1950" b="0" i="0">
                <a:solidFill>
                  <a:srgbClr val="2F745B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A805F-4F7F-4393-8FE0-1E32E1D0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Identity drift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14E7B1-46B2-4308-A4CC-BE56CDFE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F7E2D-CC84-4403-A86B-64850F3A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149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A plausible image is still wrong if face, pose or body silhouette moves.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64E3A6-2723-4A9B-8243-6554C1E44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695700"/>
            <a:ext cx="3333750" cy="2057400"/>
          </a:xfrm>
          <a:prstGeom xmlns:a="http://schemas.openxmlformats.org/drawingml/2006/main" prst="roundRect">
            <a:avLst>
              <a:gd name="adj" fmla="val 2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A8D71-A10A-4266-91EA-721CFF10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0" i="0">
                <a:solidFill>
                  <a:srgbClr val="1F6770"/>
                </a:solidFill>
              </a:defRPr>
            </a:pPr>
            <a:r>
              <a:rPr sz="1950" b="0" i="0">
                <a:solidFill>
                  <a:srgbClr val="1F6770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C9FE14-EADF-47A9-B5B8-019ED198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34340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No publishability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2E2068-B9A6-4EDE-919A-B73E2FAB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724400"/>
            <a:ext cx="514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F677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C8D76D-A904-4B55-AFBC-22532FF4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914900"/>
            <a:ext cx="2876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Brands need a system that rejects doubtful results before shoppers see them.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2EA84E-9492-4B56-AECF-0541D37F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40A315-C375-4B08-B358-9EC8BF21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PROBLEM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33070-53A4-4F13-A6CA-0CCF413D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02 / 13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2A088-ECF7-43D3-8CB0-2724B01FF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490F61-EDDB-465D-9715-23548BB1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23446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0676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75C075-7DB5-43B1-94DB-77F5C764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02 /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99495E-C78E-4458-B348-E5AABD0B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661C1-3476-4033-8DBE-4CBE5A419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One controlled workflow from SKU to shopper.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1A52D9-CF30-41C9-BD48-C1FEF74E4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garment is prepared once, mapped to a product, and then reused through the same quality pipeline across storefront SDK and API.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8E0F7E-F8A3-48E2-9EDE-0E425B99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EFE52A-5D5D-4947-AD9F-3AFE68B8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549EE9-7C2F-4E6A-919B-6D6C4BA9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5966A7-2B62-4716-88C6-345E687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Product sync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4F75D2-8166-44C5-BC00-B6367B86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SKU and product mapping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FC363-F34D-4C10-AB6D-289E142B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A2992F-7571-4DE6-ADE9-AB79D5A00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7E5D90-9218-43C6-8CA7-094647A90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BCE464-CBDA-4C77-8884-9BF2677A8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Garment 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AEFD12-0A83-4C48-87FD-1426311AC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Clean 1024 x 1365 asset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B546A6-3B7B-4DB6-8DDF-B061673A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88892-82E2-498F-9E27-AC496203C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955F69-9493-4847-B764-BE5A4535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C4DE22-D76F-49D1-B34F-9A50CC81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Shopper consent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279569-F08B-4B16-B9A4-6542EA265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Validated person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7165D-7EF8-4740-8B8A-21933D93B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C65CC7-B3F8-4758-80BC-C9B207FD3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785523-7D7A-447F-B1C8-FB06DA59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8483F3-0B77-4FEB-BD37-DC5847AC1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Standard try-on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EE71C1-9ECA-4562-B62E-B2870A1B7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One quality-first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B9D28F-9776-4045-A2EF-DC6892FE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343150"/>
            <a:ext cx="1962150" cy="13144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A210E2-0D10-4732-A973-8FEC2154E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14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C43A59-E299-4E82-9F0C-7EA35B48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5241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31148C-5B8C-44BD-8033-86C02938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337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Publishability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3304E1-320C-4B81-9F77-A4C2E291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209925"/>
            <a:ext cx="161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Score, reject or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D5D5AA-AB64-4DD8-ABB6-C8A0EC37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15FBDA-165C-40D7-8518-BED86D427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0D96E4-BAA4-4027-AB5D-97C182197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C634B0-F68C-43FD-AD87-633D629C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384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0FE24F-A8A7-4413-BAC9-257A20EC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57650"/>
            <a:ext cx="10820400" cy="158115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559DFE-BE97-42A3-9F1E-1F0DB9ED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862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THE CONTROL LOOP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5243B2-41B9-4288-928A-A5C3408F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6247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No output bypasses the gate.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9AF67F-4C4D-43EB-8B1E-A457E9C1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38725"/>
            <a:ext cx="581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Bad face, pose, body, color or background changes are rejected. Borderline cases stay in the admin review queue. Approved products become DrapixAI-ready before launch.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3921B7-C23B-4CF6-8212-9A10CC24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876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6D4985-4D04-4142-8AB7-C4966473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672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SDK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F51D2F-094C-4602-9143-5996CD00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45770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88557F4-87AD-4B3A-AE7F-E189A3FC3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46722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REST API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700FA8-209C-414E-A6C6-E7FDFB3D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577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4F0"/>
          </a:solidFill>
          <a:ln xmlns:a="http://schemas.openxmlformats.org/drawingml/2006/main" w="0">
            <a:solidFill>
              <a:srgbClr val="E8E4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CDE537-4A41-4D07-B16D-710BF9BD6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467225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3F627E"/>
                </a:solidFill>
              </a:defRPr>
            </a:pPr>
            <a:r>
              <a:rPr sz="900" b="1" i="0">
                <a:solidFill>
                  <a:srgbClr val="3F627E"/>
                </a:solidFill>
              </a:rPr>
              <a:t>SHOPIFY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30749B-7B1D-4B10-B7B8-B1A543F9B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101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172019"/>
                </a:solidFill>
              </a:defRPr>
            </a:pPr>
            <a:r>
              <a:rPr sz="1350" b="1" i="0">
                <a:solidFill>
                  <a:srgbClr val="172019"/>
                </a:solidFill>
              </a:rPr>
              <a:t>Same Standard pipeline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FB23A27-D1BD-476F-90EB-5BCB0BF7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305425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Identical product mapping and quality rules across channels.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0FDF4E-E47E-4D0E-BAF5-89A3AECC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5CD4E50-A61F-48BA-81D8-92C15EC3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SOLUTION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6AF34A-9589-4F33-B4E9-B0819EEA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03 / 13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4396B8-E727-4744-ACBC-984E9205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1B8FD68-315D-43C8-9AB9-5D2081F76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35169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43940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A46882-0E2D-4186-BD77-0A084799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03 / PRODUCT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2ECBF-55CE-4812-A1F8-9F8CBA4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BBB79C-C912-4DEB-9602-F0B382AD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A try-on result is inspected like product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E5796E-FE4D-48BB-AD92-6504B4520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evaluates the garment and the person separately, then returns only the result that meets the release bar.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655955-63B3-4562-A826-B03CFCD3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4686300" cy="4000500"/>
          </a:xfrm>
          <a:prstGeom xmlns:a="http://schemas.openxmlformats.org/drawingml/2006/main" prst="roundRect">
            <a:avLst>
              <a:gd name="adj" fmla="val 1429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6bc777db84fd2"/>
          <a:srcRect xmlns:a="http://schemas.openxmlformats.org/drawingml/2006/main" l="0" t="17377" r="0" b="173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2247900"/>
            <a:ext cx="4381500" cy="38100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97C59D-97F3-48B1-AE48-964425D0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11620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960D9-0B26-4917-B38F-FCC32C60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0982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00" b="1" i="0">
                <a:solidFill>
                  <a:srgbClr val="174B3C"/>
                </a:solidFill>
              </a:defRPr>
            </a:pPr>
            <a:r>
              <a:rPr sz="900" b="1" i="0">
                <a:solidFill>
                  <a:srgbClr val="174B3C"/>
                </a:solidFill>
              </a:rPr>
              <a:t>SKU SH-1042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95992C-C014-44B8-AC65-A183786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765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E493D3-B86B-44B4-AD75-E8B2221C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68605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D34AA-C00B-48D5-A1B7-F42C7A4B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71462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Face + pose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4C90C3-ACEF-4CC1-AA1E-342704DEC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195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74DB2-8B7F-4F36-8540-D02828EB9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6290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B3DC4-B923-4229-BB5D-8E2212D3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576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Collar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09919B-B105-45C8-AAE8-887CF71BE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76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EBFCAF-A4E9-4AF6-948B-C89993F2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862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147EDA-83B3-42C5-BC73-85503E32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11480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Color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D4F54DD-337D-4E4A-B3B6-D550F818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7910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068835-4AFC-47B6-BCB7-013FA0DB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006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59BD4-BF10-4322-9BE1-3BC2A8615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291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Cuff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679B1F-3589-4585-A948-7826EB709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053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D03310-C9A7-4787-A6CC-25ACDDD3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914900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8486D7-DA28-4BDD-923A-385D5399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43475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Texture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92A808-E797-4C16-B5F5-23F7C429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197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B3C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119D2E-9069-491F-8207-8438F97C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292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24296F-CDDB-4937-AD06-C78D5D47F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657850"/>
            <a:ext cx="8763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72019"/>
                </a:solidFill>
              </a:defRPr>
            </a:pPr>
            <a:r>
              <a:rPr sz="750" b="1" i="0">
                <a:solidFill>
                  <a:srgbClr val="172019"/>
                </a:solidFill>
              </a:rPr>
              <a:t>Hem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56BE4-C3ED-446B-9848-93ED99F7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304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PRODUCT ACCURACY REPORT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61AAE-53BD-4071-9DE0-86B6F7141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400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Structured green shirt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EA667-2E89-4EBD-B2DB-06C9CD2C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337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Release targets shown below. Final application claims should be supported by a dated validation report.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C814B3-5F7C-45B9-9BC2-7887B5E6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242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284010-CE0C-47A9-AEB9-D5FA8397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09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Color match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B066B8-B8A7-42EC-84CA-46521E10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99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5E190F-FD31-4162-A8B7-EC778AC4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242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252E30-5AFB-40A1-86A1-F04E299D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099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Print / logo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4F145C1-2437-4960-9FA0-6C7DA556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099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FA120C-CC87-4B85-8D16-FEA36FE50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14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A700EF-5783-4C07-B237-602332F4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005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Sleeve match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2E4B0B-97CC-4E1C-8829-D377CD48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005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4924A8-EFBD-4E38-9300-FBD26206D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1480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10FE4DC-0655-41BE-A280-EA2FBC59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0052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Hem match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5C0189-0462-4682-9AD7-121753FD0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0052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796EFE7-E2FE-4FF3-A9A5-F9B75E58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05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1AC2A0-3221-4B1F-BA98-B1ADC715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91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Collar structure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4BA0C6-0CE3-4AFA-95D3-4EC147AB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7910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B61A86-34D6-4F1A-93AD-27CA8291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705350"/>
            <a:ext cx="2343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D7535AB-C3F5-4F3E-A00B-E30FE18A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91075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Pose retention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7242B5-79A0-4C9B-B005-36C033FEF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791075"/>
            <a:ext cx="971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Target: excellent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13986BA-4236-4F6B-BC99-94C5E32B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86400"/>
            <a:ext cx="16002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820CF3-8E28-4D0B-9B35-3A8424C9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486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C67DF1-F0BC-4D18-89CA-B4AE0C967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619750"/>
            <a:ext cx="133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0.95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65CF5F-F301-418B-9E51-35DD60A1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99122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QUALITY RELEASE TARGET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6D75329-6C9C-424F-A3E0-3936ACB21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169545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BB1C76-CF4A-4618-8EB3-00A25D2E9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486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D9AE9BE-3F2F-45FF-BF86-6F337859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61975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10-12s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A6293A-C55D-40E2-8110-0BF31048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9912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WARM LATENCY TARGET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83014C4-9315-4075-A4B1-F68823CCD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86400"/>
            <a:ext cx="1295400" cy="8382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E3E0BCE-4894-4082-892F-D9DE9938F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486400"/>
            <a:ext cx="476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9DA041E-3BAA-42B9-BC16-1666C273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619750"/>
            <a:ext cx="1028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0" i="0">
                <a:solidFill>
                  <a:srgbClr val="172019"/>
                </a:solidFill>
              </a:defRPr>
            </a:pPr>
            <a:r>
              <a:rPr sz="2100" b="0" i="0">
                <a:solidFill>
                  <a:srgbClr val="172019"/>
                </a:solidFill>
              </a:rPr>
              <a:t>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391C34F-E557-4C10-B6BF-556877DB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5991225"/>
            <a:ext cx="1028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WARNINGS TARGET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9902A4-3991-4D45-A617-A646982C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702717-9E10-4968-8E35-1C345B6B8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EVIDENCE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49EF0A2-180F-42F3-B2D1-FC82430B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04 / 13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100644-2DB4-4504-BFAB-A69DA6323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9DCB8CE-F27A-4A25-900B-4FBAFC4B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468923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110662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161B54-2BC0-41F1-9D9E-8F8D9A46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04 / MARKET POSITION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E6344-CB7E-4839-A838-7E85AB06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A66203-7919-4F66-B93D-EC26184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Different by design: not another generic endpoint.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3F9734-7618-4BC8-82F8-852A96CA0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market contains broad generation APIs and measurement-led 3D fitting rooms. DrapixAI occupies a focused middle: product-faithful, image-based try-on with brand-controlled publishing.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10F4E0-23A9-4666-9974-0997D3285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D718BD-08AC-400D-BE3F-35474296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52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4DF22-631F-42B3-B136-19D81F03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47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28C1CD-4CB0-4039-9ACF-D633CFD82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52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Generation API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AD8970-F917-4BF5-8CEF-CF77DF6F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47900"/>
            <a:ext cx="2476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26F93-FE06-4506-A921-995E861D2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2209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3D fitting room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1F08C-800F-4D4E-80BC-DDB214EA5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47900"/>
            <a:ext cx="276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20"/>
          </a:solidFill>
          <a:ln xmlns:a="http://schemas.openxmlformats.org/drawingml/2006/main" w="9525">
            <a:solidFill>
              <a:srgbClr val="0D282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8D92F-EDF8-4C79-9609-9DD61F5E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52675"/>
            <a:ext cx="2495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DrapixAI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E6AE05-EEE3-41F7-AC8E-707EAB7E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9E7F3C-147F-431A-9B1E-69A5FA51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Primary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FBDD5B-6706-42A6-B4AF-0FC2D4DA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800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812902-429F-4E5A-9040-86DF4A84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895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Create fashion imagery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04A50-4E77-461A-ABFF-C391B847A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8003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020C37-84BA-441D-BBDD-5831C079C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956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Visualize fit and size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F5744D-90B5-4278-8E6F-9E7A153D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003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6C21FF-1C2C-42C1-AE29-D59A27BC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8956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Protect product identity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AEF624-E9C2-48C8-A3C1-F5DCF8435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ED19B4-46B2-4258-8C75-B2E481E6D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86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Garment input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5645F-D12E-44DA-A152-3D8B10F9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90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C36294-4BB7-4014-B19E-C408089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86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Request-time image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74D808-54AD-4BF6-A20C-36ED68E7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909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7A73DC-DB0E-4573-8F5B-E1A69EAC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861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Digitized 3D garment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C0FD26-B020-427C-A372-B391DA00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3909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79ED1B-744B-4A26-9B27-8AE98430F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861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Approved SKU cache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939CC-A06E-4D13-8D50-9E1695C8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88DB64-9D6C-42FA-97BD-FC909198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76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Output control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7BDF73-47FC-49FB-AAAE-3FA40EB6E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981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DE2D97-DA51-4420-8222-C4FC979D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76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User inspects result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4A010E-3EC5-4968-AEAC-0AA8FB78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814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42C75C-5968-4724-A4BD-E1B06C0E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767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3D fit logic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92822F-56BD-42A4-8016-4BD39C4C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814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DC8A6B-AC55-4124-B574-B1AB1F03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767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Score, reject,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109BD5-1F41-40BA-8D18-B6C18CE2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069958B-1141-4C15-8922-F26EC9B6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Storefront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C46426-E34E-44B2-930A-B0965955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135878-05FF-4F90-BBC5-B801773D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67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API or app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1A9A13E-7196-464C-A5C2-3CEBF004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5720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A1F5F59-C99B-49A9-AB71-205BB05D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672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Plugin / managed setup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D2AD74-69ED-4A6E-8619-4D6D54F9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5458F9-0495-4E68-8A31-CCC355AC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6672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SDK + API quality parity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D12B2E-5C2B-4AC7-BE23-D5738E7B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DDABE8-A2AE-4539-B2A1-E4E23107A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57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66736B"/>
                </a:solidFill>
              </a:defRPr>
            </a:pPr>
            <a:r>
              <a:rPr sz="900" b="1" i="0">
                <a:solidFill>
                  <a:srgbClr val="66736B"/>
                </a:solidFill>
              </a:rPr>
              <a:t>Brand readiness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9E6BD0A-3EF3-43EE-BB08-A27DA0663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62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E5953CF-793F-4E6B-AACC-3B4763EF8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57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Endpoint available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8AD948-A130-4353-8708-D5BABC6E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1625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C34DFA-11B4-4B7F-8A54-13E1BF18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578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172019"/>
                </a:solidFill>
              </a:defRPr>
            </a:pPr>
            <a:r>
              <a:rPr sz="975" b="0" i="0">
                <a:solidFill>
                  <a:srgbClr val="172019"/>
                </a:solidFill>
              </a:rPr>
              <a:t>Garment digitized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1D8351-D8B8-4042-898C-174A2B4E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162550"/>
            <a:ext cx="276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E9DE809-1219-4C4F-A57E-1798B2D34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2578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172019"/>
                </a:solidFill>
              </a:defRPr>
            </a:pPr>
            <a:r>
              <a:rPr sz="975" b="1" i="0">
                <a:solidFill>
                  <a:srgbClr val="172019"/>
                </a:solidFill>
              </a:rPr>
              <a:t>SKU certified before launch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4B690E-7417-4B40-8066-15152A3B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962650"/>
            <a:ext cx="1638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EEF3"/>
          </a:solidFill>
          <a:ln xmlns:a="http://schemas.openxmlformats.org/drawingml/2006/main" w="0">
            <a:solidFill>
              <a:srgbClr val="E8EE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46968E3-ED31-4CEC-94CB-F91D88FD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5972175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EXAMPLE: FASHN API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EC0E07-2A1A-4F58-856A-A45C8A788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962650"/>
            <a:ext cx="1600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ECDD"/>
          </a:solidFill>
          <a:ln xmlns:a="http://schemas.openxmlformats.org/drawingml/2006/main" w="0">
            <a:solidFill>
              <a:srgbClr val="F3ECDD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949DA9-1F13-49A3-8AAB-8E0DE0DC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5972175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765720"/>
                </a:solidFill>
              </a:defRPr>
            </a:pPr>
            <a:r>
              <a:rPr sz="750" b="1" i="0">
                <a:solidFill>
                  <a:srgbClr val="765720"/>
                </a:solidFill>
              </a:rPr>
              <a:t>EXAMPLE: STYLE.ME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931D8B-6C5B-4B12-98B3-9CC42DD6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5962650"/>
            <a:ext cx="21336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027C577-9618-4E5B-BE58-12391B6B1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972175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GARMENT-FIRST CONTROL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C83BE74-00D6-4624-8112-5DB816372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9600A8-7649-4F66-90CD-69C15456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DIFFERENTIATION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F6DA0DF-A107-43EF-B583-A5E063F88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05 / 13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286C7DE-CD4B-42E7-A21F-45BA2F35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20055E2-1CEF-499C-9148-217D32B4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586154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74438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8C5846-DA14-4F65-A9FC-31C7B43D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05 / INNOVATION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5C8FDB-E330-413B-BB81-3F8863BA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F67B7-2D57-49BD-B9C3-AD23A4ED7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The model is one layer. The control system is the product.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F4B983-E01C-4ED3-AFAF-41BFE3360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combines AI generation with catalog preparation, quality intelligence, brand delivery, and an auditable feedback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AC5FBC-B370-486F-B8A7-C88512DD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AE4F75-6E8D-4121-898D-4ED79F873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4ADCA5-BD50-4733-ACD0-D6E95AE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2E7019-AD16-433C-B0BF-F1653560A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622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B6DC34-DD0E-418F-A9BD-5326095B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Garment intelligence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8E1E06-8201-4340-BFD1-952A80F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933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Background cleanup, normalization, sleeve and garment analysis, reusable product cache.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0C7A6-1C64-4EAE-9DDA-B875EC1FC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CEACF-A60C-41D1-A4E8-217EFF01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0505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E7A8FA-4A14-4CB1-94E2-80A268789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527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276E7-2658-4071-8A05-CFB9FB4C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6222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BB22E-1EA7-4BF1-B6DF-6BB57B17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336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Standard generation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760C6C-F413-4468-97AB-31209603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9337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One production mode, one candidate, CatVTON pipeline, SDK/API parity.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EC12E6-AF1E-4C07-93C0-AB21FAB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3247CB-53CE-456C-B757-BAF8A7B0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88ED04-65EC-4268-8370-385DA537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D10BC0-9435-435B-B98B-9011CD5E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95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87F29F-18DE-491B-955D-7014A91B7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91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Quality intelligence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09ED91-A862-44E3-A983-FCF08655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91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Face, pose, body, color, texture and artifact scoring with automatic rejection.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936040-CE2B-4BDC-8DC0-BF93D04DF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5181600" cy="14097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566742-A1EA-4643-8C05-6D50CA459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95250" cy="14097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82481B1-845D-4774-9209-1022DFEC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005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7AA880-8484-4892-ABA1-D86784AB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19575"/>
            <a:ext cx="3238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5EC1F8-D62C-4989-B63B-6C642B7F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191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Commerce control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3B9886-ED26-4B40-B349-64AFDDBE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9105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Product mapping, DrapixAI-ready certification, review states, consent and retention.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ADBF2E-54B8-4E77-8AA2-60852392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10850" cy="4191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D7B541-5CF3-4F73-AB49-41F926083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9120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INPUT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60F9D9-AC69-4EF1-AEBF-CB30C672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791200"/>
            <a:ext cx="919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SKU PREP  &gt;  STANDARD TRY-ON  &gt;  QUALITY GATE  &gt;  APPROVE / REJECT  &gt;  SHOPPER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7AFD14-C945-4E26-8690-5D7F61AD5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B07A8-81E6-4DDB-8B2C-C37A7960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INNOVATION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64087D3-C752-45D2-BFCA-4E633AFB8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06 / 13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5BE2DE-C4BD-45C5-8CB4-B7832A85A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87BB399-8002-45CD-A5C2-C99AE1B3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70338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1353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06530B5-ECF0-4B76-AB33-50AA196F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06 / TECHNOLOGY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8B766-FAD0-4A3A-A92F-BCFEE885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2C6601-2C03-41D3-8B98-65F712786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A secure, queue-based architecture that scales by tenant.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53C4AE-979E-41EF-8475-92F58B38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Public traffic stops at the API edge. Data services and GPU workers remain private, while per-tenant controls protect shared capacity.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A0570-5787-44BE-B320-2A8EBC6E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8097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85EAD-C284-499A-841A-EB0255A0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480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SHOPPER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81F81-66AF-4344-A6A4-37BFECF7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Brand storefront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Mobile app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28E68-BEDF-4144-9FC1-969B2F1CA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76550"/>
            <a:ext cx="20002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2B7394-1292-4AC4-8893-B9001BAD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48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PUBLIC 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3E19E-40D4-47CC-98E3-B2962B8D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528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WAF + API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SDK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4A737F-2993-4ED9-9488-46C06FE1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876550"/>
            <a:ext cx="18097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4582BA-3CE8-4E24-8764-8EB53ED4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048000"/>
            <a:ext cx="1504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QUEUE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DE219-3E21-4508-8740-8766A176F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3528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Redis / RQ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Tenant limits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57638-4377-4CA4-9338-B1BCA13C1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876550"/>
            <a:ext cx="2000250" cy="1276350"/>
          </a:xfrm>
          <a:prstGeom xmlns:a="http://schemas.openxmlformats.org/drawingml/2006/main" prst="roundRect">
            <a:avLst>
              <a:gd name="adj" fmla="val 4478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9525">
            <a:solidFill>
              <a:srgbClr val="0D2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02D49F-9950-4618-BD74-827514E4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48000"/>
            <a:ext cx="1695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GPU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D6E73F-8514-4B4C-B73F-EB402B1D8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1695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CatVTON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Standard worker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5963D-37D8-4F98-91C1-7E116FB5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876550"/>
            <a:ext cx="1219200" cy="1276350"/>
          </a:xfrm>
          <a:prstGeom xmlns:a="http://schemas.openxmlformats.org/drawingml/2006/main" prst="roundRect">
            <a:avLst>
              <a:gd name="adj" fmla="val 468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EE92BB-8D42-4D01-98C9-2B9FF3CB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048000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RESULT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E9C83-B54E-4A3B-BB87-49E71332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52800"/>
            <a:ext cx="914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Score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Store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1" i="0">
                <a:solidFill>
                  <a:srgbClr val="172019"/>
                </a:solidFill>
              </a:defRPr>
            </a:pPr>
            <a:r>
              <a:rPr sz="1275" b="1" i="0">
                <a:solidFill>
                  <a:srgbClr val="172019"/>
                </a:solidFill>
              </a:rPr>
              <a:t>Return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764A22-7710-4B7D-AAE3-43C5E4DF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147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FC361B-12E6-490B-95AA-EDBC3B55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F6AAA6-19F4-4A31-8F91-8CCEEBC60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147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769A36-A86C-4993-8DDF-6B489808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81B96E-1DC8-483E-AEA8-C19BEA04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514725"/>
            <a:ext cx="552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86A0A-6616-4A46-8E90-624ADF47A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0C1EEB-0908-490C-BE3F-0A9D2728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51472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413708-41F6-459D-91F2-98B4492E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409950"/>
            <a:ext cx="1714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FC6F06-D32E-496B-9AB4-6DBDA30D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263190-C767-4D44-ACA7-FE4105A8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Short-lived tokens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A545D9-3646-48BA-A816-CA12D2D6F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No permanent secret in the browser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69F6A07-DCCE-4EF4-B9EE-24B15786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10C01-F022-492C-81C4-44F4578A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Tenant isolation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1756AB5-7552-4499-BEC1-6C5088B1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Keys, records, limits and audit boundaries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36708A-C301-4B33-9E0D-F1DF6DCB6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10E6348-6143-4D76-89C2-E9B24634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Private data plane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8D6FD1-2254-4F59-959A-934F20C7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Postgres, Redis, storage and GPU off internet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959739D-81FC-4450-8742-3C1DA4F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2457450" cy="1104900"/>
          </a:xfrm>
          <a:prstGeom xmlns:a="http://schemas.openxmlformats.org/drawingml/2006/main" prst="roundRect">
            <a:avLst>
              <a:gd name="adj" fmla="val 3448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5594C2A-2664-481E-A450-9BF580C0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876800"/>
            <a:ext cx="2152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172019"/>
                </a:solidFill>
              </a:defRPr>
            </a:pPr>
            <a:r>
              <a:rPr sz="1125" b="1" i="0">
                <a:solidFill>
                  <a:srgbClr val="172019"/>
                </a:solidFill>
              </a:rPr>
              <a:t>Observable delivery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22814F-DB51-47EE-9B3C-9C1255C5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5219700"/>
            <a:ext cx="2152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00" b="0" i="0">
                <a:solidFill>
                  <a:srgbClr val="66736B"/>
                </a:solidFill>
              </a:defRPr>
            </a:pPr>
            <a:r>
              <a:rPr sz="900" b="0" i="0">
                <a:solidFill>
                  <a:srgbClr val="66736B"/>
                </a:solidFill>
              </a:rPr>
              <a:t>Quality, latency, warnings and webhook logs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EBAFC66-48DD-44C7-8F60-C3FB4F50F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41CF03-6455-4CD8-B1DF-2157FE63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TECHNOLOGY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2EA1B2-819C-459B-8078-FD2EC9083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07 / 13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284921-EA03-4153-A73B-A85A3EC4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780E1B-8589-4C2E-BA2F-E81C2E83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82061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567363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D201B4-0355-4672-BD2A-FC1FD99AA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07 /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D6FC9-92DE-4227-890A-CA7488FBD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77521-6108-469A-BAA7-8A35FCBE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Simple entry pricing, one quality standard.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ED4922-1830-4681-BFD6-7E0C7D5C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Brands pay for publishable try-ons, not for lower-quality modes. SDK and API share the same Standard pipeline and quota logic.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C1B892-C946-4E3F-9BDB-177C7516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2457450" cy="2819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447E19-CF73-4EC2-8005-F4A193FD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2F745B"/>
                </a:solidFill>
              </a:defRPr>
            </a:pPr>
            <a:r>
              <a:rPr sz="825" b="1" i="0">
                <a:solidFill>
                  <a:srgbClr val="2F745B"/>
                </a:solidFill>
              </a:rPr>
              <a:t>STARTER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9F135C-0076-41E8-A11B-F8AC22BB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72019"/>
                </a:solidFill>
              </a:defRPr>
            </a:pPr>
            <a:r>
              <a:rPr sz="3150" b="0" i="0">
                <a:solidFill>
                  <a:srgbClr val="172019"/>
                </a:solidFill>
              </a:rPr>
              <a:t>$49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AC24BF-A7A4-421E-BE2B-431AD2B3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per month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C9D38B-45AC-4F5B-918E-515CD42D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5E5BAF-80E7-4F0C-98DA-1BB9B1F7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2019"/>
                </a:solidFill>
              </a:defRPr>
            </a:pPr>
            <a:r>
              <a:rPr sz="1200" b="1" i="0">
                <a:solidFill>
                  <a:srgbClr val="172019"/>
                </a:solidFill>
              </a:rPr>
              <a:t>1,000 try-ons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E774B-8007-44C2-9DE0-63FD49EC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Pilot one product 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F7AAB6-7EDC-45FF-9146-19E8BB606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6784E6-9475-4220-B43B-D8097220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752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SDK + API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8F7695-77C1-420D-B459-F46100DE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24100"/>
            <a:ext cx="2457450" cy="2819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19050">
            <a:solidFill>
              <a:srgbClr val="1F677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7F41BF-C47D-4E22-B7D6-FC58F786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1F6770"/>
                </a:solidFill>
              </a:defRPr>
            </a:pPr>
            <a:r>
              <a:rPr sz="825" b="1" i="0">
                <a:solidFill>
                  <a:srgbClr val="1F6770"/>
                </a:solidFill>
              </a:rPr>
              <a:t>GROWTH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F64602-4308-426B-B03C-001959E99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9337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72019"/>
                </a:solidFill>
              </a:defRPr>
            </a:pPr>
            <a:r>
              <a:rPr sz="3150" b="0" i="0">
                <a:solidFill>
                  <a:srgbClr val="172019"/>
                </a:solidFill>
              </a:rPr>
              <a:t>$199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C0FF9F-6471-488A-9CC3-C9A467C7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671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per month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998C79-FFFE-457B-A1D9-017D44D94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100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89724-19B1-43BC-A7DB-3CE7146B5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2019"/>
                </a:solidFill>
              </a:defRPr>
            </a:pPr>
            <a:r>
              <a:rPr sz="1200" b="1" i="0">
                <a:solidFill>
                  <a:srgbClr val="172019"/>
                </a:solidFill>
              </a:rPr>
              <a:t>7,500 try-ons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D8538A-AE63-4A41-A2A9-FBBA7703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4005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Growing DTC catalog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EA1311-3D7B-4044-824D-A2B1850D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743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E0199B-BFFF-4576-A829-46EA00B3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752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SDK + API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944447-678F-4F7C-BEDA-1895C50A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2457450" cy="281940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B46050-9F20-4BF7-A73C-8B059033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336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3F627E"/>
                </a:solidFill>
              </a:defRPr>
            </a:pPr>
            <a:r>
              <a:rPr sz="825" b="1" i="0">
                <a:solidFill>
                  <a:srgbClr val="3F627E"/>
                </a:solidFill>
              </a:rPr>
              <a:t>PRO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FA5788-322C-4763-AEBB-2E4457117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33700"/>
            <a:ext cx="2076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150" b="0" i="0">
                <a:solidFill>
                  <a:srgbClr val="172019"/>
                </a:solidFill>
              </a:defRPr>
            </a:pPr>
            <a:r>
              <a:rPr sz="3150" b="0" i="0">
                <a:solidFill>
                  <a:srgbClr val="172019"/>
                </a:solidFill>
              </a:rPr>
              <a:t>$499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E54BAB-8DCD-476C-9FE1-41C77CFF2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67100"/>
            <a:ext cx="2076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per month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886E6D-FC0B-404A-BB8F-00999C0C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10000"/>
            <a:ext cx="2076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DD77A3-0E4C-4183-B486-38F4EB77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00500"/>
            <a:ext cx="2076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172019"/>
                </a:solidFill>
              </a:defRPr>
            </a:pPr>
            <a:r>
              <a:rPr sz="1200" b="1" i="0">
                <a:solidFill>
                  <a:srgbClr val="172019"/>
                </a:solidFill>
              </a:rPr>
              <a:t>25,000 try-ons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8FD799-8C5B-4781-A7C5-F6A20258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00550"/>
            <a:ext cx="2076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Higher-volume storefront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939686E-640D-42DB-AE1F-830BC53D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743450"/>
            <a:ext cx="10668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0C52819-48E7-4715-A237-895F2C9D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876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74B3C"/>
                </a:solidFill>
              </a:defRPr>
            </a:pPr>
            <a:r>
              <a:rPr sz="750" b="1" i="0">
                <a:solidFill>
                  <a:srgbClr val="174B3C"/>
                </a:solidFill>
              </a:rPr>
              <a:t>SDK +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11320FD-4C11-4616-B7F0-040591B1B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24100"/>
            <a:ext cx="2647950" cy="2819400"/>
          </a:xfrm>
          <a:prstGeom xmlns:a="http://schemas.openxmlformats.org/drawingml/2006/main" prst="roundRect">
            <a:avLst>
              <a:gd name="adj" fmla="val 2158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4C7B98-7B45-4E52-A3CD-2B8484A59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5336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ENTERPRISE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0F2558-F240-4D8E-8CA2-0B453E02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337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850" b="0" i="0">
                <a:solidFill>
                  <a:srgbClr val="FFFFFF"/>
                </a:solidFill>
              </a:defRPr>
            </a:pPr>
            <a:r>
              <a:rPr sz="2850" b="0" i="0">
                <a:solidFill>
                  <a:srgbClr val="FFFFFF"/>
                </a:solidFill>
              </a:rPr>
              <a:t>Custom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A60674-1A44-4425-98E7-67C68DDA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6385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050" b="0" i="0">
                <a:solidFill>
                  <a:srgbClr val="CFE3D8"/>
                </a:solidFill>
              </a:defRPr>
            </a:pPr>
            <a:r>
              <a:rPr sz="1050" b="0" i="0">
                <a:solidFill>
                  <a:srgbClr val="CFE3D8"/>
                </a:solidFill>
              </a:rPr>
              <a:t>Dedicated capacity, SLA, private deployment and catalog onboarding.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B1DCF3-6D06-462C-953C-85C0D235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5339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9766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B4319F-097B-41FF-9350-43C588CB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7053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Optional revenue lines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09DB914-F48F-4815-B9EF-3F56632FF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4972050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825" b="0" i="0">
                <a:solidFill>
                  <a:srgbClr val="CFE3D8"/>
                </a:solidFill>
              </a:defRPr>
            </a:pPr>
            <a:r>
              <a:rPr sz="825" b="0" i="0">
                <a:solidFill>
                  <a:srgbClr val="CFE3D8"/>
                </a:solidFill>
              </a:rPr>
              <a:t>SKU certification  |  onboarding  |  dedicated infrastructure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1491FD-247E-41A7-A4E6-F01D215A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778B36-AE53-4E9C-AEB1-EF36B4A3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0225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66736B"/>
                </a:solidFill>
              </a:defRPr>
            </a:pPr>
            <a:r>
              <a:rPr sz="825" b="1" i="0">
                <a:solidFill>
                  <a:srgbClr val="66736B"/>
                </a:solidFill>
              </a:rPr>
              <a:t>Revenue status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056BBE-52F0-45A8-9C77-3225627F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600700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A7544F"/>
                </a:solidFill>
              </a:defRPr>
            </a:pPr>
            <a:r>
              <a:rPr sz="975" b="1" i="0">
                <a:solidFill>
                  <a:srgbClr val="A7544F"/>
                </a:solidFill>
              </a:rPr>
              <a:t>[REPLACE WITH VERIFIED REVENUE, FUNDING AND CUSTOMER DATA BEFORE SUBMISSION]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FDBFE7-E58F-49FA-A465-14CA406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3C6C2B-F97B-4F99-BA4B-D90F3299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BUSINESS MODEL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9BCF95-9015-4E03-B161-54CD03E2D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08 / 13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D586FA-EFA4-4D62-B33A-B619746DE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6132DBC-92B4-4FE8-B4D8-910B22A0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937846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0423555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A498E2-8565-4BFE-B472-2DBDB6C4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08 / SCALABILITY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0AB356-DA02-4EAA-A7A8-7A55BBC21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62F65-A421-4B4C-849F-AB821976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Start narrow, prove quality, expand by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1E6D21-2A3E-474F-B2E4-505F8963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The beachhead is upper-body fashion commerce. New categories enter production only after the same product-accuracy and latency gates are proven.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D239FB-EB59-41FE-AAD5-CF1C4B241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D3A980-1D36-48CA-BCC2-D90F990E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23028-9B20-4288-B04B-335115F9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FE3D8"/>
          </a:solidFill>
          <a:ln xmlns:a="http://schemas.openxmlformats.org/drawingml/2006/main" w="0">
            <a:solidFill>
              <a:srgbClr val="CFE3D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8F5AE2-36CC-47DC-8E22-7636ED79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955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NOW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893C4F-4042-4287-9569-BB6BEE1D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Upper-body Standard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0AF0CA-9BC0-4335-8924-89A0068C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Shirts, T-shirts, polos, hoodies, kurtis, blouses and sleeveless tops.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04E3A-425B-4F86-88AE-59F3C102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2667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CFC8E1-48C3-42CD-9473-7B76F9ECA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12A0F-5110-4015-BD39-0C80CF7A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812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21E24-58BD-4FFF-B136-7D68D2FA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06793E-0D4F-415A-BD8D-23A4EA31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955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1F6770"/>
                </a:solidFill>
              </a:defRPr>
            </a:pPr>
            <a:r>
              <a:rPr sz="750" b="1" i="0">
                <a:solidFill>
                  <a:srgbClr val="1F6770"/>
                </a:solidFill>
              </a:rPr>
              <a:t>NEXT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5032F8-1757-4E67-9341-3A7985408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Validated expansion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434AF8-04B5-4C90-B4C1-21B64B179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814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Lower-body and full-body after category-specific quality matrices pass.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A94C52-CD29-4CFA-AF4A-9E60C0AB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76625"/>
            <a:ext cx="266700" cy="3429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B43FBB-C5D8-41AA-8F12-F0747EBF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33750" cy="26289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762C0B-8877-475B-9EB9-002202C7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381250"/>
            <a:ext cx="3333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1B98E6-13B5-4ED5-8A11-FB9DB819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86050"/>
            <a:ext cx="8382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BD1C15-0408-461C-89A2-810221ED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955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1A3D09-FBE3-4DD1-9669-EB597874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19450"/>
            <a:ext cx="29146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0" i="0">
                <a:solidFill>
                  <a:srgbClr val="172019"/>
                </a:solidFill>
              </a:defRPr>
            </a:pPr>
            <a:r>
              <a:rPr sz="2025" b="0" i="0">
                <a:solidFill>
                  <a:srgbClr val="172019"/>
                </a:solidFill>
              </a:rPr>
              <a:t>Commerce infrastructure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AF0EE7-6B67-48DD-8F10-AE247ABB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81450"/>
            <a:ext cx="2914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050" b="0" i="0">
                <a:solidFill>
                  <a:srgbClr val="66736B"/>
                </a:solidFill>
              </a:defRPr>
            </a:pPr>
            <a:r>
              <a:rPr sz="1050" b="0" i="0">
                <a:solidFill>
                  <a:srgbClr val="66736B"/>
                </a:solidFill>
              </a:rPr>
              <a:t>Shopify, SDK, REST API, mobile apps and dedicated enterprise capacity.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5FD38-29BD-4FD7-9564-CA70480A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CATALOG SCALE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65BD99-DC9F-46A7-B80C-0BED165A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Prepare once, reuse per SKU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28B7DE-E5A1-4ECF-BFA4-9657AAE9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TRAFFIC SCALE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6347D3-4A73-452D-AA9C-2E3813D76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91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Queue and tenant concurrency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959AA6E-3A54-4593-941A-196A13D3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3340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QUALITY SCALE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890AF3-0B70-484D-BCBA-25D83F9EE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591175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One release policy across channels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F071E79-059E-4C8B-A54F-4EACFC64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40B2C3-5A18-4E30-BBDA-977FB85C1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SCALABILITY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60D274-F3D2-4348-95BA-A53FDE99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09 / 13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50B28-B649-4487-B809-41865EDA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3C072BD-FF50-4B5C-A3B4-62A3321D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055077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3504659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C46DD5-5F62-4737-8A8E-69AED219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09 / PROGRESS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C8EC99-76A2-4A2A-A77C-C42CD01EB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DA3409-B472-4495-8DA2-ECE41B55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Product foundation built. Market proof is the next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7737-F843-4FED-9C99-39EC09B7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is at validation stage: the platform and quality workflow exist; public claims must now be backed by a dated test matrix and pilot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46FBC0-B5B8-4257-9464-BB11BB72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67100"/>
            <a:ext cx="982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4C7165-2E2F-4A60-B579-F26B9450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7BBCF-5385-41EA-A6D7-7F6E9DEF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324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BUILT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69C808-1492-472F-99CC-C5B83A76E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Product foundation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02227-5072-474D-A2F7-C2D26CAB9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05250"/>
            <a:ext cx="209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3BFCB7-731C-484C-B304-DEB39D5A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CatVTON engine, Standard mode, garment cache, SDK/API, dashboard and quality review.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A5A7F7-1821-457D-9FE4-8F98093F0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77B44-1629-4686-A303-D8C629D6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324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1F6770"/>
                </a:solidFill>
              </a:defRPr>
            </a:pPr>
            <a:r>
              <a:rPr sz="750" b="1" i="0">
                <a:solidFill>
                  <a:srgbClr val="1F6770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FD499-0427-4E98-BFFE-98A425710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Launch 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B40968-9067-4D62-831F-B8A1F474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05250"/>
            <a:ext cx="209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352C8-A21C-4828-BF3A-B4E5B98E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9575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50-case garment matrix, security checks, warm latency, tenant isolation and failure recovery.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3ECCA-3DC7-4AF6-BC95-56ECA1FA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1AEF77-03BB-4DCB-A8B8-AE3CADC03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3241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78A2A"/>
                </a:solidFill>
              </a:defRPr>
            </a:pPr>
            <a:r>
              <a:rPr sz="750" b="1" i="0">
                <a:solidFill>
                  <a:srgbClr val="C78A2A"/>
                </a:solidFill>
              </a:rPr>
              <a:t>PILOT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67BFF-991E-4974-BF8C-E75E7E51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3-5 brand trials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0FA38E-32DB-4C7F-9AD9-532ED8B21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209550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C6007F-F745-46C5-ABBC-26A012E35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17907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Measure usage, acceptance, add-to-cart behavior and operational support needs.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E8907D-19E2-4379-8654-E59A98749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975" y="33051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41889A-A2E4-4294-A41E-A39C0F53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1" i="0">
                <a:solidFill>
                  <a:srgbClr val="3F627E"/>
                </a:solidFill>
              </a:defRPr>
            </a:pPr>
            <a:r>
              <a:rPr sz="750" b="1" i="0">
                <a:solidFill>
                  <a:srgbClr val="3F627E"/>
                </a:solidFill>
              </a:rPr>
              <a:t>SCALE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04AD6-CD8E-44E2-8CDE-E57878B84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6289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725" b="0" i="0">
                <a:solidFill>
                  <a:srgbClr val="172019"/>
                </a:solidFill>
              </a:defRPr>
            </a:pPr>
            <a:r>
              <a:rPr sz="1725" b="0" i="0">
                <a:solidFill>
                  <a:srgbClr val="172019"/>
                </a:solidFill>
              </a:rPr>
              <a:t>Dedicated capacity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D0027-AE54-4089-A3F8-B9FF4F5C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05250"/>
            <a:ext cx="2381250" cy="1352550"/>
          </a:xfrm>
          <a:prstGeom xmlns:a="http://schemas.openxmlformats.org/drawingml/2006/main" prst="roundRect">
            <a:avLst>
              <a:gd name="adj" fmla="val 28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894999-727F-4618-A517-9C91D164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095750"/>
            <a:ext cx="2076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16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Three concurrent users first; increase only after GPU and latency proof.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8B0A9B-820F-4F7F-BF23-C4525F404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820400" cy="4572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E9EFEA"/>
          </a:solidFill>
          <a:ln xmlns:a="http://schemas.openxmlformats.org/drawingml/2006/main" w="0">
            <a:solidFill>
              <a:srgbClr val="E9EFEA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5A0714-44E8-4B51-A0DF-3DBB847E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245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NEXT PROOF ASSET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341CBC-4A71-4DBD-AC22-CD36CEEF0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705475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172019"/>
                </a:solidFill>
              </a:defRPr>
            </a:pPr>
            <a:r>
              <a:rPr sz="1050" b="1" i="0">
                <a:solidFill>
                  <a:srgbClr val="172019"/>
                </a:solidFill>
              </a:rPr>
              <a:t>One signed pilot or MoU plus a dated quality matrix will materially strengthen the DPIIT submission.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A1529B-2D47-4238-B0ED-984D84E8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A3BCF9-3888-4EBB-9AE4-55D2159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PROGRESS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1E436B-7F8F-4359-BF62-E09ACD045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10 / 13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396ABF-2F16-4322-9DC0-4144361A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0CFF5D-E3AC-45A2-9F6C-02CE123A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17230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962009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7E6B6A-7AA1-4A21-BF5E-BC68ED8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10 / DPIIT ALIGNMENT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24C68-5FFF-4CAE-BF17-79A07C0D3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74D0BE-591B-4F98-A69C-13EF06303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Built for innovation, scalability and economic impact.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604583-4E3F-4829-A89A-62D15C7B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DrapixAI aligns with the recognition test through a differentiated technology workflow and a repeatable B2B platform model.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043D3-A5C7-4FE5-8DF8-F948ED8F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479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3734A4-90B9-4620-B93F-76B9216B2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4F87FD-1112-4F97-8D2F-F60D5C477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CDF4C2-A9CE-4815-8770-463F98F9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38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Innovation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B7DC1-B52F-48AF-B05C-40150F881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819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Product-aware preprocessing, cached SKU assets and a publishability gate around AI generation.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94E68A-0C3B-41FB-8849-397A3CB3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3B33A8-4757-4261-B86C-79C77E52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384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6770"/>
          </a:solidFill>
          <a:ln xmlns:a="http://schemas.openxmlformats.org/drawingml/2006/main" w="0">
            <a:solidFill>
              <a:srgbClr val="1F677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E8FCB7-0F39-48F4-BF90-5A130918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765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91D61-3D79-454E-8A21-8115E88C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384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Scalable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0CFAC8-A615-446F-B851-9C6037F40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194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One platform can serve many brands through SDK, API, Shopify and mobile integrations.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3D76C1-05C6-41BB-AA4C-A8E5E538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1E5AA3-47BF-4F24-B30A-5A327D53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3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8A2A"/>
          </a:solidFill>
          <a:ln xmlns:a="http://schemas.openxmlformats.org/drawingml/2006/main" w="0">
            <a:solidFill>
              <a:srgbClr val="C78A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131F82-F910-488F-BDE1-A0A3F846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76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2A500F-8EC6-455B-876F-9BFBA727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38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Employment potential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1B4243-361B-4871-9C3F-82301BD7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419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AI engineering, catalog operations, quality review, merchant success, security and infrastructure.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AE6B80-98AE-484D-829A-9CFA24F8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5181600" cy="1352550"/>
          </a:xfrm>
          <a:prstGeom xmlns:a="http://schemas.openxmlformats.org/drawingml/2006/main" prst="roundRect">
            <a:avLst>
              <a:gd name="adj" fmla="val 42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0E0B0C-B3FC-4E9C-88CE-676F6E1A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38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F627E"/>
          </a:solidFill>
          <a:ln xmlns:a="http://schemas.openxmlformats.org/drawingml/2006/main" w="0">
            <a:solidFill>
              <a:srgbClr val="3F627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FC5E4-A673-413C-8ECF-EB8505A4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76700"/>
            <a:ext cx="43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C086D7-8BDC-4E38-9BCA-32A98D3E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386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 i="0">
                <a:solidFill>
                  <a:srgbClr val="172019"/>
                </a:solidFill>
              </a:defRPr>
            </a:pPr>
            <a:r>
              <a:rPr sz="1500" b="1" i="0">
                <a:solidFill>
                  <a:srgbClr val="172019"/>
                </a:solidFill>
              </a:rPr>
              <a:t>Wealth creation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1D755-3A7F-4713-838F-6FAB912F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19600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975" b="0" i="0">
                <a:solidFill>
                  <a:srgbClr val="66736B"/>
                </a:solidFill>
              </a:defRPr>
            </a:pPr>
            <a:r>
              <a:rPr sz="975" b="0" i="0">
                <a:solidFill>
                  <a:srgbClr val="66736B"/>
                </a:solidFill>
              </a:rPr>
              <a:t>Helps Indian fashion and DTC brands own a branded, data-rich try-on experience on their storefronts.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4B1C22-BDF7-42B6-9399-4BC71465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62600"/>
            <a:ext cx="10610850" cy="5334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22DC7B-F6E0-4C9D-A181-DA5B4D8D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695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Recognition ask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4C66E4-CA2B-441D-B2E7-B05D7D6E4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68642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DPIIT recognition to accelerate ecosystem access, IP support, compliance readiness, hiring and brand pilots.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436525-6E13-4187-BE9F-00E4A1C3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CC75A6-A880-47B9-9476-64490FBD8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DPIIT ALIGNMENT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565F43-C4C1-4186-BC01-E6BE8D14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11 / 13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B23B57-9CFF-46B6-A0BA-D6B3AAFA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9CA36F-B74B-4C7A-B2C5-B6BD51D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289538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284506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3FF6E-1290-49AD-B866-39504CF6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552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F745B"/>
                </a:solidFill>
              </a:defRPr>
            </a:pPr>
            <a:r>
              <a:rPr sz="900" b="1" i="0">
                <a:solidFill>
                  <a:srgbClr val="2F745B"/>
                </a:solidFill>
              </a:rPr>
              <a:t>11 / COMPANY AND TEAM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DBABE8-138F-4F90-8BDA-604B30136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74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DC008F-4E34-4AB6-860D-F08B525A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075" b="0" i="0">
                <a:solidFill>
                  <a:srgbClr val="172019"/>
                </a:solidFill>
              </a:defRPr>
            </a:pPr>
            <a:r>
              <a:rPr sz="3075" b="0" i="0">
                <a:solidFill>
                  <a:srgbClr val="172019"/>
                </a:solidFill>
              </a:rPr>
              <a:t>Complete these verified facts before uploading the PDF.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004CDA-26E6-4B96-8B27-E2AE12EA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6736B"/>
                </a:solidFill>
              </a:defRPr>
            </a:pPr>
            <a:r>
              <a:rPr sz="1275" b="0" i="0">
                <a:solidFill>
                  <a:srgbClr val="66736B"/>
                </a:solidFill>
              </a:rPr>
              <a:t>Startup India explicitly asks for founders, directors, shareholding, funding, revenue and traction. Bracketed fields are intentional safeguards against misrepresentation.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06C72-F67D-4946-8B45-3D177F36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5124450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4C8D7F-A1EF-4C41-9E43-43C5D357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206286-1FAA-4A26-98A6-EFEAB9F3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Legal name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96EE9-4323-4B8A-9100-4CB6F74F3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705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[LEGAL ENTITY NAME]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A529D-2DBA-4178-84A4-CAF795DB3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C39A1-9581-46B2-8A2A-FCB1A348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Entity type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BD525F-84FC-48B0-ACFA-A71157D1B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623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[PVT LTD / LLP / PARTNERSHIP]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9D713-585B-4F95-95A8-6A88CE03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8465C6-F0C5-4F05-95E4-EA55D305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Incorporated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3B109F-B572-4F12-9F19-E2CB1BF1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195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[DD MMM YYYY]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01423-0B5B-4A5E-9A9E-AC347B517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433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67CB70-DB1B-4CC8-90E3-0C26F4244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767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CIN / LLPIN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101951-286F-452D-8752-D36A443E5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767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[REGISTRATION NUMBER]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11AF4-6687-4D8B-94EC-06CAF34F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005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B5F653-AAEC-4EAE-AE7B-E05438BF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339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Registered office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915949-6245-42FC-9428-BE0C11F6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33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[FULL REGISTERED ADDRESS]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90F06F-381A-4852-8DEE-1F5A5F8C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577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43BED2-7427-4A33-8D80-01ED8CA7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911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Website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DF49DE-6513-4FF8-BF17-24FBC3AB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911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A7544F"/>
                </a:solidFill>
              </a:defRPr>
            </a:pPr>
            <a:r>
              <a:rPr sz="900" b="1" i="0">
                <a:solidFill>
                  <a:srgbClr val="A7544F"/>
                </a:solidFill>
              </a:rPr>
              <a:t>[VERIFIED WEBSITE URL]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41F464-2E27-42D6-86BA-241E7B36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14950"/>
            <a:ext cx="4648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43E68F-CD59-48E7-AADF-38A65386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816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DIRECTORS AND TEAM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205C70-DF71-470B-8B12-7E48E0B0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91200"/>
            <a:ext cx="457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[NAME | CITIZENSHIP | EDUCATION | EXPERIENCE | ROLE]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65707-7ADC-48E8-A636-46921463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71700"/>
            <a:ext cx="5467350" cy="3810000"/>
          </a:xfrm>
          <a:prstGeom xmlns:a="http://schemas.openxmlformats.org/drawingml/2006/main" prst="roundRect">
            <a:avLst>
              <a:gd name="adj" fmla="val 1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6C8EB2-0CC2-4F03-89A5-14E09AC00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812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2F745B"/>
                </a:solidFill>
              </a:defRPr>
            </a:pPr>
            <a:r>
              <a:rPr sz="750" b="1" i="0">
                <a:solidFill>
                  <a:srgbClr val="2F745B"/>
                </a:solidFill>
              </a:rPr>
              <a:t>OWNERSHIP AND EVIDENCE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2A163A-57FC-4D0E-B9AF-38308D69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Shareholding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052C12-677B-4B04-B06F-C08CC569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05100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[NAME | % | CITIZENSHIP]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243E28-5B60-467F-8337-572C2BE8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9908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D046C3-552D-480C-AFE8-C4492C15A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0765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Funding received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58746-8795-4370-9A57-C45060602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76575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[NONE / VERIFIED AMOUNT + INVESTOR]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9D7C1B-65F6-4B25-96FF-6207C844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3623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7054B69-0154-4740-930B-45E5E8CF6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480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Revenue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CF5A7D-2985-426D-9781-BDE976F1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[FY-WISE VERIFIED REVENUE]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F2998B-6350-4763-AFAB-16F31B1A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338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799E5F-59BF-4212-B026-947DD6EB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81952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Paying customers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E40904-6DBE-49C6-8FBC-DAAF7B5E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19525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[VERIFIED COUNT]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FCDCAA-58B5-4194-8FC5-3BACCB1B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052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FE7CB9-1BD1-4F58-9BD3-6F4A7EED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9100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Pilot / MoU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C33CCC-A2EE-4600-9866-6816B1927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191000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[PARTY + DATE + EVIDENCE]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6BF4AB-66A0-4530-8CE0-DBE06CB9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47675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E622A5A-65CF-4476-8504-0263CB90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56247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Govt/incubator support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53CE881-4F1B-44C9-9124-9D3314F9B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562475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[NONE / VERIFIED DETAILS]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DF8E93B-DC83-4A8F-8949-4820D853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4822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5F23CB6-2E3C-489C-B05B-864F20713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33950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Awards / recognition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D7B443-4625-4109-936D-ED76500B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33950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[NONE / VERIFIED DETAILS]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BC41F50-45FF-4F21-A9B3-2E69DEE3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219700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0FD5DF-AB8E-4985-B18D-802C7D77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305425"/>
            <a:ext cx="1543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0" i="0">
                <a:solidFill>
                  <a:srgbClr val="66736B"/>
                </a:solidFill>
              </a:defRPr>
            </a:pPr>
            <a:r>
              <a:rPr sz="825" b="0" i="0">
                <a:solidFill>
                  <a:srgbClr val="66736B"/>
                </a:solidFill>
              </a:rPr>
              <a:t>Regulatory approvals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A459918-847B-4186-A086-DAAA5081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305425"/>
            <a:ext cx="335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A7544F"/>
                </a:solidFill>
              </a:defRPr>
            </a:pPr>
            <a:r>
              <a:rPr sz="825" b="1" i="0">
                <a:solidFill>
                  <a:srgbClr val="A7544F"/>
                </a:solidFill>
              </a:rPr>
              <a:t>[NOT APPLICABLE / DETAILS]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79F5DEB-3A69-4B4D-8400-DA509C5E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591175"/>
            <a:ext cx="495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CF3DBEF-7092-4483-BCE7-1D12072F7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5310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C355DF-538A-4D5B-BC1C-A7F013ED3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81025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A7544F"/>
                </a:solidFill>
              </a:defRPr>
            </a:pPr>
            <a:r>
              <a:rPr sz="750" b="1" i="0">
                <a:solidFill>
                  <a:srgbClr val="A7544F"/>
                </a:solidFill>
              </a:rPr>
              <a:t>Attach supporting evidence where available. Do not submit placeholders.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C79CC97-E719-429A-88DC-FB1CB67B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579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DD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C12B716-26D4-4040-909E-69BEE82BA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409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DRAPIXAI  |  COMPANY FACTS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C0EBED8-9A42-4D14-8EB9-2694DDE3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34150"/>
            <a:ext cx="1219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1" i="0">
                <a:solidFill>
                  <a:srgbClr val="66736B"/>
                </a:solidFill>
              </a:defRPr>
            </a:pPr>
            <a:r>
              <a:rPr sz="675" b="1" i="0">
                <a:solidFill>
                  <a:srgbClr val="66736B"/>
                </a:solidFill>
              </a:rPr>
              <a:t>12 / 13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6219C5B-4741-4759-A394-2DABCB98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DD7"/>
          </a:solidFill>
          <a:ln xmlns:a="http://schemas.openxmlformats.org/drawingml/2006/main" w="0">
            <a:solidFill>
              <a:srgbClr val="D5DDD7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39A16C5-46B7-498C-9DB0-4F345336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6581775"/>
            <a:ext cx="1406769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45B"/>
          </a:solidFill>
          <a:ln xmlns:a="http://schemas.openxmlformats.org/drawingml/2006/main" w="0">
            <a:solidFill>
              <a:srgbClr val="2F745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79063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28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DE49C27-B00E-4DA0-9D26-115F7F924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f5c07f33b4269"/>
          <a:stretch xmlns:a="http://schemas.openxmlformats.org/drawingml/2006/main"/>
        </p:blipFill>
        <p:spPr>
          <a:xfrm xmlns:a="http://schemas.openxmlformats.org/drawingml/2006/main">
            <a:off x="0" y="190500"/>
            <a:ext cx="4857750" cy="6477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A88F0-5C99-4BE2-8A3E-0B2CEBB0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0"/>
            <a:ext cx="7334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820"/>
          </a:solidFill>
          <a:ln xmlns:a="http://schemas.openxmlformats.org/drawingml/2006/main" w="0">
            <a:solidFill>
              <a:srgbClr val="0D282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a2a03cf4604160"/>
          <a:stretch xmlns:a="http://schemas.openxmlformats.org/drawingml/2006/main"/>
        </p:blipFill>
        <p:spPr>
          <a:xfrm xmlns:a="http://schemas.openxmlformats.org/drawingml/2006/main">
            <a:off x="5543550" y="590550"/>
            <a:ext cx="685800" cy="6858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9793E4-72C3-421D-8C16-417FAE62F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6002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CFE3D8"/>
                </a:solidFill>
              </a:defRPr>
            </a:pPr>
            <a:r>
              <a:rPr sz="900" b="1" i="0">
                <a:solidFill>
                  <a:srgbClr val="CFE3D8"/>
                </a:solidFill>
              </a:rPr>
              <a:t>BUILT IN INDIA FOR FASHION COMMERCE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6C3B58-91C9-4255-BA66-0B2F8FD4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76450"/>
            <a:ext cx="56197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600" b="0" i="0">
                <a:solidFill>
                  <a:srgbClr val="FFFFFF"/>
                </a:solidFill>
              </a:defRPr>
            </a:pPr>
            <a:r>
              <a:rPr sz="3600" b="0" i="0">
                <a:solidFill>
                  <a:srgbClr val="FFFFFF"/>
                </a:solidFill>
              </a:rPr>
              <a:t>Make the real product the hero.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5A02AF-CFAB-48DE-8527-1A81AB25E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619500"/>
            <a:ext cx="5524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 i="0">
                <a:solidFill>
                  <a:srgbClr val="CFE3D8"/>
                </a:solidFill>
              </a:defRPr>
            </a:pPr>
            <a:r>
              <a:rPr sz="1350" b="0" i="0">
                <a:solidFill>
                  <a:srgbClr val="CFE3D8"/>
                </a:solidFill>
              </a:rPr>
              <a:t>DrapixAI gives brands a controlled path from SKU to shopper: prepare the garment, preserve product identity, reject doubtful outputs, and publish through a native storefront experience.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127C5-B925-487C-B3A1-B240E6832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29200"/>
            <a:ext cx="544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9766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539E7E-C39F-47C5-83B5-A167FE37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2768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CFE3D8"/>
                </a:solidFill>
              </a:defRPr>
            </a:pPr>
            <a:r>
              <a:rPr sz="825" b="1" i="0">
                <a:solidFill>
                  <a:srgbClr val="CFE3D8"/>
                </a:solidFill>
              </a:rPr>
              <a:t>DPIIT RECOGNITION 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16B1E-534F-4C19-A210-5622F9480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60070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Support the validation and scale-up of garment-faithful AI infrastructure for fashion brands.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C23F0-109B-4862-9EBB-A429EFB5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400800"/>
            <a:ext cx="561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1" i="0">
                <a:solidFill>
                  <a:srgbClr val="CFE3D8"/>
                </a:solidFill>
              </a:defRPr>
            </a:pPr>
            <a:r>
              <a:rPr sz="750" b="1" i="0">
                <a:solidFill>
                  <a:srgbClr val="CFE3D8"/>
                </a:solidFill>
              </a:rPr>
              <a:t>[REGISTERED EMAIL]   |   [WEBSITE]   |   [CITY, INDIA]</a:t>
            </a:r>
          </a:p>
        </p:txBody>
      </p:sp>
    </p:spTree>
    <p:extLst>
      <p:ext uri="{BB962C8B-B14F-4D97-AF65-F5344CB8AC3E}">
        <p14:creationId xmlns:p14="http://schemas.microsoft.com/office/powerpoint/2010/main" val="18640566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2026-08-02T23:01:23.7510000Z</dcterms:created>
  <dcterms:modified xsi:type="dcterms:W3CDTF">2026-08-02T23:01:23.7510000Z</dcterms:modified>
</coreProperties>
</file>